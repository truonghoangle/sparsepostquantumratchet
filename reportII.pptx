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D4EA"/>
                </a:solidFill>
                <a:latin typeface="Calibri"/>
              </a:rPr>
              <a:t>45-MINUTE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From AI-Assisted Verification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to Security Defect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6F0"/>
                </a:solidFill>
                <a:latin typeface="Calibri"/>
              </a:rPr>
              <a:t>How AI can help us reason about software—and find what can go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FD4EA"/>
                </a:solidFill>
                <a:latin typeface="Calibri"/>
              </a:rPr>
              <a:t>Case study: formally verifying Signal's Sparse Post-Quantum Ratchet (SPQR) in Lean 4  ·  Rust → Aeneas → Lean 4  ·  246 spec files  ·  63 defects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Speaker: Hoàng Le Trường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Friday, October 16, 2026 · 3:00 PM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2743200" cy="54864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5577840"/>
            <a:ext cx="2743200" cy="54864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Formal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5577840"/>
            <a:ext cx="2743200" cy="54864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Software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Today’s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1 minute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533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Can We Trust Software?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5 minutes · Why software failures matter — and one real one (D1)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67712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34086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What Is Formal Verification?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249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8 minutes · Testing, specifications, proofs, and the SPQR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55264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36499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2841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How AI Assists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7124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10 minutes · AI-generated proofs, their limits, and what fuzzing missed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4352544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3159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Security Defect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70001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15 minutes · The SPQR case study: 63 defects, one deadlock (D21)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30368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5340096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Lessons and Takeaways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6875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7 minutes · What a proof can and cannot guarantee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Can We Trust Software?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1 ·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6C1"/>
                </a:solidFill>
                <a:latin typeface="Calibri"/>
              </a:rPr>
              <a:t>A program can pass every test we try—and still contain a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Consider a simple program that checks whether a user is authorized to perform an operation.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</a:t>
            </a:r>
            <a:r>
              <a:rPr sz="1600">
                <a:solidFill>
                  <a:srgbClr val="1F2A44"/>
                </a:solidFill>
                <a:latin typeface="Calibri"/>
              </a:rPr>
              <a:t>Ordinary cases behave correctly.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</a:t>
            </a:r>
            <a:r>
              <a:rPr sz="1600">
                <a:solidFill>
                  <a:srgbClr val="1F2A44"/>
                </a:solidFill>
                <a:latin typeface="Calibri"/>
              </a:rPr>
              <a:t>Invalid inputs may follow an unexpected path.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</a:t>
            </a:r>
            <a:r>
              <a:rPr sz="1600">
                <a:solidFill>
                  <a:srgbClr val="1F2A44"/>
                </a:solidFill>
                <a:latin typeface="Calibri"/>
              </a:rPr>
              <a:t>An attacker may deliberately search for an unusual sequence of operations.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</a:t>
            </a:r>
            <a:r>
              <a:rPr sz="1600">
                <a:solidFill>
                  <a:srgbClr val="1F2A44"/>
                </a:solidFill>
                <a:latin typeface="Calibri"/>
              </a:rPr>
              <a:t>A rare failure can have a serious security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Example: A simple authorization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28600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if user_is_authorized: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    perform_operation()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else: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    reject_request()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Calibri"/>
              </a:rPr>
              <a:t>Question: Is checking this condition enough to guarantee that the operation is secure?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321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Testing finds failures in selected executions. Formal verification reasons about stated properties of program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 Real One: D1 — From Corrupted Blob to Panic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1 · SPQR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23</a:t>
            </a:r>
          </a:p>
        </p:txBody>
      </p:sp>
      <p:pic>
        <p:nvPicPr>
          <p:cNvPr id="7" name="Picture 6" descr="fig_d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6444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924607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Signal's SPQR passed its own tests and hax/F* proofs. Yet nothing between a stored blob and the assert re-checks next.len(); the hax contract is verified only at proof time, so a corrupted blob panics at run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Testing vs. Formal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2 · 8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2834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What does the program do on these inputs?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0392B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Run the program on selected inputs and observe behavior.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0392B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Shows the presence of bugs, never their absence.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0392B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SPQR: 40 000 forged messages → 0 panics.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0392B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Missed every blob-path defect (D1, D19, D23 …).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94960" cy="2834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Calibri"/>
              </a:rPr>
              <a:t>Formal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Can we prove a stated property under explicit assumptions?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86C1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State a property for ALL inputs and prove it in a model.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86C1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Every theorem names its hypotheses.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86C1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SPQR: 246 Lean spec files, 0 sorry.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86C1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A hypothesis the Rust never checks = a defect.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A tiny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For  f(a, b) = a + b  we want:   ∀ a, b ∈ ℕ,  f(a, b) = a + b.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Testing can evaluate selected pairs. A formal proof establishes the property for every pair — provided the implementation and statement are correctly formalized.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155680" cy="68580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733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Testing samples executions; formal verification establishes specified properties within a model. The 63 SPQR defects came from asking what each proof had to assume.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Specification, Implementation, and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2 · 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1. Specification — What should happen?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 precise statement of the intended behavior.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Example: An unauthenticated message must not advance the session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2. Implementation — What does the code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The actual instructions, conditions, state transitions, and message-handling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3. Proof — Why is the property true?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 formal argument that the implementation satisfies the specification under stated assumptions.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Important question: What if the specification itself is wrong or incomplete?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A proof may be mathematically valid while the system still fails to satisfy its real-world security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Is Lean, and Why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2 · 2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Lean is an interactive theorem prover and programming language.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It allows us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Express mathematical definitions and theorems precisely.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Construct proofs using tactics and reusable lemmas.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Encode properties of programs and mathematical structures.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Check proof terms with Lean's trusted kernel.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A tiny Lean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00200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theorem add_zero (n : Nat) : n + 0 = n := by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  rfl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This theorem states that adding zero to a natural number leaves it unchanged.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Nat represents natural numbers.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theorem introduces a proposition to prove.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by starts the proof.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rfl proves the equality by definitional reduction.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155680" cy="8229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The important idea: Lean checks whether the proof establishes the stated proposition — nothing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SPQR Verification Pipeline: Rust → Aeneas → Lean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2 · SPQR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23</a:t>
            </a:r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1978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478054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Funs.lean is generated from the Rust by Aeneas and trusted. The hand-written external models (dashed) are where an unsound model (D59) silently weakens every proof that depends on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AI Assists Formal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3 ·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Calibri"/>
              </a:rPr>
              <a:t>1. 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Explain unfamiliar code, definitions, and proof goals in natural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Calibri"/>
              </a:rPr>
              <a:t>2. Suggest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Recommend useful lemmas, tactics, and proof strategies.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79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56615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Calibri"/>
              </a:rPr>
              <a:t>3. 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3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Draft Lean code, candidate proofs — and candidate counterexamples.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79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356615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Calibri"/>
              </a:rPr>
              <a:t>4. 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3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Try alternative proof approaches and investigate why a proof gets stuck.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11155680" cy="68580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6875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 SPQR, AI drafted spec theorems, proposed the forged-message bytes, and summarized state transitions — Lean and cargo checked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AI-Generated Proofs Need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3 · 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Failure 1: Invalid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AI generates code that does not compile or does not prove the goal.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Failure 2: Wrong Property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The proof establishes a weaker property than the one needed for security.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Failure 3: Missing 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The formal model omits relevant system behavior or environmental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0040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Failure 4: False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A successful proof is interpreted as a guarantee that the whole system is secure.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155680" cy="8229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4589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 output  →  Lean checks the proof  →  Humans check the specification and assumptions.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Fuzzing Showed — and Didn't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3 · SPQR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 / 23</a:t>
            </a:r>
          </a:p>
        </p:txBody>
      </p:sp>
      <p:pic>
        <p:nvPicPr>
          <p:cNvPr id="7" name="Picture 6" descr="fig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366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64637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Left: an AI-built harness fires 40 000 forged messages and nothing panics — yet D21 lives on the accepted (blue) path. Right: the Lean counter bound is a hypothesis a peer can exceed after ~156 K messages. Both checks passed; neither asked the right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Project: Signal's SPQR, Re-verified in Lean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155680" cy="658368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3075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316736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Sparse Post-Quantum Ratchet: the ML-KEM layer of Signal's Triple Ratchet (Rust crate spqr v1.5.0)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11155680" cy="658368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Upstream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093976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Signal verifies it with hax → F*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11155680" cy="658368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8620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71216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Independent re-verification: Rust → Aeneas → Lean 4, 246 spec theorems, 0 sorry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39"/>
            <a:ext cx="11155680" cy="658368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3639311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48455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63 defects (D1–D63), each backed by a Lean proof or a runnable Rust counterexample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Three root-cause 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Authenticate after persist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D16 D21 D22 D35 D36 D62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80060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2628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from_pb copies without validating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D1 D11–D14 D18 D19 D23 … D61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80060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2104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assume! erased at run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D2 D3 D5 D8 D9 D25 D29 D37 D56 D57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63 Defects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SPQR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 / 23</a:t>
            </a:r>
          </a:p>
        </p:txBody>
      </p:sp>
      <p:pic>
        <p:nvPicPr>
          <p:cNvPr id="7" name="Picture 6" descr="fig_de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133" y="1188720"/>
            <a:ext cx="9331428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Left: fix status. Right: root-cause class — overflow and missing validation dominate by count; authentication ordering (red) is today's case study.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Case Study: When a Protocol Accepts the Wrong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D21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155680" cy="6400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Security goal: An unauthenticated control message must not cause an unauthorized state transition.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8449"/>
                </a:solidFill>
                <a:latin typeface="Calibri"/>
              </a:rPr>
              <a:t>Intended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1. </a:t>
            </a:r>
            <a:r>
              <a:rPr sz="1400">
                <a:solidFill>
                  <a:srgbClr val="1F2A44"/>
                </a:solidFill>
                <a:latin typeface="Calibri"/>
              </a:rPr>
              <a:t>Receive a control message.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2. </a:t>
            </a:r>
            <a:r>
              <a:rPr sz="1400">
                <a:solidFill>
                  <a:srgbClr val="1F2A44"/>
                </a:solidFill>
                <a:latin typeface="Calibri"/>
              </a:rPr>
              <a:t>Verify the required authentication conditions.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3. </a:t>
            </a:r>
            <a:r>
              <a:rPr sz="1400">
                <a:solidFill>
                  <a:srgbClr val="1F2A44"/>
                </a:solidFill>
                <a:latin typeface="Calibri"/>
              </a:rPr>
              <a:t>Validate the message's meaning and context.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4. </a:t>
            </a:r>
            <a:r>
              <a:rPr sz="1400">
                <a:solidFill>
                  <a:srgbClr val="1F2A44"/>
                </a:solidFill>
                <a:latin typeface="Calibri"/>
              </a:rPr>
              <a:t>Apply the state transition only if all required checks succeed.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What SPQR recv actually does (D21)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1. </a:t>
            </a:r>
            <a:r>
              <a:rPr sz="1400">
                <a:solidFill>
                  <a:srgbClr val="1F2A44"/>
                </a:solidFill>
                <a:latin typeface="Calibri"/>
              </a:rPr>
              <a:t>Receive a control message.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2. </a:t>
            </a:r>
            <a:r>
              <a:rPr sz="1400">
                <a:solidFill>
                  <a:srgbClr val="1F2A44"/>
                </a:solidFill>
                <a:latin typeface="Calibri"/>
              </a:rPr>
              <a:t>Advance the protocol state (epoch, keys) and persist 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3. </a:t>
            </a:r>
            <a:r>
              <a:rPr sz="1400">
                <a:solidFill>
                  <a:srgbClr val="1F2A44"/>
                </a:solidFill>
                <a:latin typeface="Calibri"/>
              </a:rPr>
              <a:t>Verify authentication.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4. </a:t>
            </a:r>
            <a:r>
              <a:rPr sz="1400">
                <a:solidFill>
                  <a:srgbClr val="1F2A44"/>
                </a:solidFill>
                <a:latin typeface="Calibri"/>
              </a:rPr>
              <a:t>Reject the message if authentication fails — state already 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The key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What happens if the message is rejected after the protocol state has already changed?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D21 as a 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SPQR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 / 23</a:t>
            </a:r>
          </a:p>
        </p:txBody>
      </p:sp>
      <p:pic>
        <p:nvPicPr>
          <p:cNvPr id="7" name="Picture 6" descr="fig_d21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188720"/>
            <a:ext cx="9601200" cy="3922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02685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One unauthenticated 4-byte message moves Bob to epoch 2. Alice rejects all of Bob's messages; Bob ignores all of Alice's. Permanent deadlock — the answer to the key question.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Where the MAC Is — and Isn't — Checked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SPQR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 / 23</a:t>
            </a:r>
          </a:p>
        </p:txBody>
      </p:sp>
      <p:pic>
        <p:nvPicPr>
          <p:cNvPr id="7" name="Picture 6" descr="fig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897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77999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Green: the only edges that call the MAC. Red: edges that persist state with no Authenticator call. D21 is the red back-edge; the same pattern explains D16, D22, D35, D36 and D62.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Signal Is Safe From D21 — and Who Isn't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exploitability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17 / 23</a:t>
            </a:r>
          </a:p>
        </p:txBody>
      </p:sp>
      <p:pic>
        <p:nvPicPr>
          <p:cNvPr id="7" name="Picture 6" descr="fig_lib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74" y="1188720"/>
            <a:ext cx="10471545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libsignal runs spqr::recv on a clone and commits only after the MAC passes. The protection lives outside SPQR; peers, other embedders and storage bypass it. Exploitability is a judgment about the whole system, not the crate.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From Code Reading to a Validated Defect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651760" cy="4206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Step 1 — 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AI summarizes control flow, message handling, and state transitions.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libri"/>
              </a:rPr>
              <a:t>D21: AI read recv and flagged that the epoch advances before the MAC 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80160"/>
            <a:ext cx="2651760" cy="4206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6616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Step 2 — Hypothesize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20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Identify a suspicious ordering, missing condition, or inconsistency with the security requirements.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9319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libri"/>
              </a:rPr>
              <a:t>Hypothesis: an unauthenticated message can move a peer to a new epoch.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80160"/>
            <a:ext cx="2651760" cy="4206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Step 3 — Construct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Propose a message sequence, execution trace, or counterexample that could violate the property.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libri"/>
              </a:rPr>
              <a:t>AI proposed the 4-byte forged message.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280160"/>
            <a:ext cx="2651760" cy="4206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3544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Step 4 — 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202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Reproduce the behavior and check it against implementation, model, tests, or formal properties.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9319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libri"/>
              </a:rPr>
              <a:t>cargo test reproduces the deadlock; Lean proves it in ProtocolDoS.lean.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23560"/>
            <a:ext cx="11155680" cy="68580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5733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Report a defect only when the evidence is strong enough. Two agents agreeing is not evidence.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Three Complementary Roles, One Defect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19 / 23</a:t>
            </a:r>
          </a:p>
        </p:txBody>
      </p:sp>
      <p:pic>
        <p:nvPicPr>
          <p:cNvPr id="7" name="Picture 6" descr="fig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17" y="1188720"/>
            <a:ext cx="6410059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46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No arrow is skippable: the forged bytes came from AI, the deadlock proof from cargo/Lean, the exploitability verdict from reading libsignal.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77840"/>
            <a:ext cx="11155680" cy="68580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6875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 proposes  ·  Formal tools check  ·  Humans evaluate specification quality, exploitability, and impact.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a Proof Is Not a Security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5 · 7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20 / 23</a:t>
            </a:r>
          </a:p>
        </p:txBody>
      </p:sp>
      <p:pic>
        <p:nvPicPr>
          <p:cNvPr id="7" name="Picture 6" descr="fig_proof_vs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937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7507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Everything in the blue ellipse is machine-checked. Every one of the 63 defects is a true statement about the green region that no theorem mentioned.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4480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2A44"/>
                </a:solidFill>
                <a:latin typeface="Calibri"/>
              </a:rPr>
              <a:t>Even a Lean proof accepted by the kernel establishes only</a:t>
            </a:r>
          </a:p>
          <a:p>
            <a:pPr algn="ctr"/>
            <a:r>
              <a:rPr sz="2600" b="1">
                <a:solidFill>
                  <a:srgbClr val="1F2A44"/>
                </a:solidFill>
                <a:latin typeface="Calibri"/>
              </a:rPr>
              <a:t>the formal proposition under its stated assumptions.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0392B"/>
                </a:solidFill>
                <a:latin typeface="Calibri"/>
              </a:rPr>
              <a:t>It does not, by itself, establish that the specification captures</a:t>
            </a:r>
          </a:p>
          <a:p>
            <a:pPr algn="ctr"/>
            <a:r>
              <a:rPr sz="2400" b="0">
                <a:solidFill>
                  <a:srgbClr val="C0392B"/>
                </a:solidFill>
                <a:latin typeface="Calibri"/>
              </a:rPr>
              <a:t>every security requirement of the real-world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Calibri"/>
              </a:rPr>
              <a:t>SPQR: 246 spec files, 0 sorry, ChainInv proved — and still 63 defects,</a:t>
            </a:r>
          </a:p>
          <a:p>
            <a:pPr algn="ctr"/>
            <a:r>
              <a:rPr sz="1800" b="0">
                <a:solidFill>
                  <a:srgbClr val="555555"/>
                </a:solidFill>
                <a:latin typeface="Calibri"/>
              </a:rPr>
              <a:t>found precisely by asking what each proof had to assume.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Lessons, Limitations,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Five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1. </a:t>
            </a:r>
            <a:r>
              <a:rPr sz="1400">
                <a:solidFill>
                  <a:srgbClr val="1F2A44"/>
                </a:solidFill>
                <a:latin typeface="Calibri"/>
              </a:rPr>
              <a:t>Testing is useful, but incomplete. 40 000 fuzzed messages missed D21.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2. </a:t>
            </a:r>
            <a:r>
              <a:rPr sz="1400">
                <a:solidFill>
                  <a:srgbClr val="1F2A44"/>
                </a:solidFill>
                <a:latin typeface="Calibri"/>
              </a:rPr>
              <a:t>Formal verification gives precise guarantees — relative to the specification and its assumptions.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3. </a:t>
            </a:r>
            <a:r>
              <a:rPr sz="1400">
                <a:solidFill>
                  <a:srgbClr val="1F2A44"/>
                </a:solidFill>
                <a:latin typeface="Calibri"/>
              </a:rPr>
              <a:t>AI accelerates exploration: drafting specs, proofs, harnesses, and counterexamples.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4. </a:t>
            </a:r>
            <a:r>
              <a:rPr sz="1400">
                <a:solidFill>
                  <a:srgbClr val="1F2A44"/>
                </a:solidFill>
                <a:latin typeface="Calibri"/>
              </a:rPr>
              <a:t>Proof does not equal security. A valid proof may establish a property that is too weak or incomplete.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5. </a:t>
            </a:r>
            <a:r>
              <a:rPr sz="1400">
                <a:solidFill>
                  <a:srgbClr val="1F2A44"/>
                </a:solidFill>
                <a:latin typeface="Calibri"/>
              </a:rPr>
              <a:t>Human judgment remains essential: the libsignal clone-and-commit verdict came from reading code, not a prover.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143000"/>
            <a:ext cx="4297680" cy="4206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8952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Questions for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73736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If an AI-generated proof is accepted by Lean, what exactly have we established?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Can a perfectly verified program still be insecure?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Where should human judgment remain in an AI-assisted workflow?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1155680" cy="73152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564184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Final message: Use AI to explore more possibilities — and use verification to check the claims.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BFD4E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FD4EA"/>
                </a:solidFill>
                <a:latin typeface="Calibri"/>
              </a:rPr>
              <a:t>docs/report.md · docs/listDefects.md · docs/classificationBug.md · docs/bugSecurityRemote.md</a:t>
            </a:r>
          </a:p>
          <a:p>
            <a:pPr algn="ctr"/>
            <a:r>
              <a:rPr sz="1400" b="0">
                <a:solidFill>
                  <a:srgbClr val="BFD4EA"/>
                </a:solidFill>
                <a:latin typeface="Calibri"/>
              </a:rPr>
              <a:t>Spqr/Specs/Bugs/ProtocolDoS.lean · Spqr/Specs/Bugs/CorruptedBlobs.lean · docs/protocol_driver_counterexamples.rs.txt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