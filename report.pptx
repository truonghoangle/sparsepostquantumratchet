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941832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F2A44"/>
                </a:solidFill>
                <a:latin typeface="Calibri"/>
              </a:defRPr>
            </a:pPr>
            <a:r>
              <a:t>From AI-Assisted Verification</a:t>
            </a:r>
            <a:br/>
            <a:r>
              <a:t>to Security Defect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A4560"/>
                </a:solidFill>
                <a:latin typeface="Calibri"/>
              </a:defRPr>
            </a:pPr>
            <a:r>
              <a:t>Case study: formally verifying Signal's Sparse Post-Quantum Ratchet (SPQR) in Lean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9377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6FEB"/>
                </a:solidFill>
                <a:latin typeface="Calibri"/>
              </a:defRPr>
            </a:pPr>
            <a:r>
              <a:t>Rust → Aeneas → Lean 4  ·  246 spec files  ·  63 defects (D1–D63)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778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A8299"/>
                </a:solidFill>
                <a:latin typeface="Calibri"/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A44"/>
                </a:solidFill>
                <a:latin typeface="Calibri"/>
              </a:defRPr>
            </a:pPr>
            <a:r>
              <a:t>Seminar Structure (45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77724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2763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6FEB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39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2A44"/>
                </a:solidFill>
                <a:latin typeface="Calibri"/>
              </a:defRPr>
            </a:pPr>
            <a:r>
              <a:t>The Challenge: Can We Trust Software?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17099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
                  <a:srgbClr val="7A8299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10515600" cy="77724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8775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6FE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5176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2A44"/>
                </a:solidFill>
                <a:latin typeface="Calibri"/>
              </a:defRPr>
            </a:pPr>
            <a:r>
              <a:t>What Is Formal Verification?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67004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
                  <a:srgbClr val="7A8299"/>
                </a:solidFill>
                <a:latin typeface="Calibri"/>
              </a:defRPr>
            </a:pPr>
            <a:r>
              <a:t>8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10515600" cy="77724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4787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6FE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11879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2A44"/>
                </a:solidFill>
                <a:latin typeface="Calibri"/>
              </a:defRPr>
            </a:pPr>
            <a:r>
              <a:t>How AI Assists Formal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63016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
                  <a:srgbClr val="7A8299"/>
                </a:solidFill>
                <a:latin typeface="Calibri"/>
              </a:defRPr>
            </a:pPr>
            <a:r>
              <a:t>10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34840"/>
            <a:ext cx="10515600" cy="77724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0799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D7263D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5720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2A44"/>
                </a:solidFill>
                <a:latin typeface="Calibri"/>
              </a:defRPr>
            </a:pPr>
            <a:r>
              <a:t>From Verification to Security Defect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59028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
                  <a:srgbClr val="7A8299"/>
                </a:solidFill>
                <a:latin typeface="Calibri"/>
              </a:defRPr>
            </a:pPr>
            <a:r>
              <a:t>15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94960"/>
            <a:ext cx="10515600" cy="77724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6811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6FEB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53212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F2A44"/>
                </a:solidFill>
                <a:latin typeface="Calibri"/>
              </a:defRPr>
            </a:pPr>
            <a:r>
              <a:t>Lessons, Limitations, and Takeaways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555040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
                  <a:srgbClr val="7A8299"/>
                </a:solidFill>
                <a:latin typeface="Calibri"/>
              </a:defRPr>
            </a:pPr>
            <a:r>
              <a:t>7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A44"/>
                </a:solidFill>
                <a:latin typeface="Calibri"/>
              </a:defRPr>
            </a:pPr>
            <a:r>
              <a:t>D1: From Corrupted Blob to Panic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1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" y="1051560"/>
            <a:ext cx="10698480" cy="37078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89654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A4560"/>
                </a:solidFill>
                <a:latin typeface="Calibri"/>
              </a:defRPr>
            </a:pPr>
            <a:r>
              <a:t>Nothing between the blob and the assert re-checks next.len(); the hax contract is verified only at proof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6FEB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30175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A44"/>
                </a:solidFill>
                <a:latin typeface="Calibri"/>
              </a:defRPr>
            </a:pPr>
            <a:r>
              <a:t>Testing vs. Formal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A8299"/>
                </a:solidFill>
                <a:latin typeface="Calibri"/>
              </a:defRPr>
            </a:pPr>
            <a:r>
              <a:t>8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20624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7263D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7263D"/>
                </a:solidFill>
                <a:latin typeface="Calibri"/>
              </a:rPr>
              <a:t>▸ </a:t>
            </a:r>
            <a:r>
              <a:rPr sz="1800">
                <a:solidFill>
                  <a:srgbClr val="3A4560"/>
                </a:solidFill>
                <a:latin typeface="Calibri"/>
              </a:rPr>
              <a:t>Runs the program on chosen inputs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7263D"/>
                </a:solidFill>
                <a:latin typeface="Calibri"/>
              </a:rPr>
              <a:t>▸ </a:t>
            </a:r>
            <a:r>
              <a:rPr sz="1800">
                <a:solidFill>
                  <a:srgbClr val="3A4560"/>
                </a:solidFill>
                <a:latin typeface="Calibri"/>
              </a:rPr>
              <a:t>40 000 forged messages: 0 panics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7263D"/>
                </a:solidFill>
                <a:latin typeface="Calibri"/>
              </a:rPr>
              <a:t>▸ </a:t>
            </a:r>
            <a:r>
              <a:rPr sz="1800">
                <a:solidFill>
                  <a:srgbClr val="3A4560"/>
                </a:solidFill>
                <a:latin typeface="Calibri"/>
              </a:rPr>
              <a:t>Shows presence of bugs, never absence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7263D"/>
                </a:solidFill>
                <a:latin typeface="Calibri"/>
              </a:rPr>
              <a:t>▸ </a:t>
            </a:r>
            <a:r>
              <a:rPr sz="1800">
                <a:solidFill>
                  <a:srgbClr val="3A4560"/>
                </a:solidFill>
                <a:latin typeface="Calibri"/>
              </a:rPr>
              <a:t>Missed every blob-path defect (D1, D19, D23 ...)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212080" cy="420624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6FEB"/>
                </a:solidFill>
                <a:latin typeface="Calibri"/>
              </a:defRPr>
            </a:pPr>
            <a:r>
              <a:t>Formal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6FEB"/>
                </a:solidFill>
                <a:latin typeface="Calibri"/>
              </a:rPr>
              <a:t>▸ </a:t>
            </a:r>
            <a:r>
              <a:rPr sz="1800">
                <a:solidFill>
                  <a:srgbClr val="3A4560"/>
                </a:solidFill>
                <a:latin typeface="Calibri"/>
              </a:rPr>
              <a:t>States a property for ALL inputs and proves it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6FEB"/>
                </a:solidFill>
                <a:latin typeface="Calibri"/>
              </a:rPr>
              <a:t>▸ </a:t>
            </a:r>
            <a:r>
              <a:rPr sz="1800">
                <a:solidFill>
                  <a:srgbClr val="3A4560"/>
                </a:solidFill>
                <a:latin typeface="Calibri"/>
              </a:rPr>
              <a:t>246 Lean spec files, 0 sorry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6FEB"/>
                </a:solidFill>
                <a:latin typeface="Calibri"/>
              </a:rPr>
              <a:t>▸ </a:t>
            </a:r>
            <a:r>
              <a:rPr sz="1800">
                <a:solidFill>
                  <a:srgbClr val="3A4560"/>
                </a:solidFill>
                <a:latin typeface="Calibri"/>
              </a:rPr>
              <a:t>Every theorem names its hypotheses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6FEB"/>
                </a:solidFill>
                <a:latin typeface="Calibri"/>
              </a:rPr>
              <a:t>▸ </a:t>
            </a:r>
            <a:r>
              <a:rPr sz="1800">
                <a:solidFill>
                  <a:srgbClr val="3A4560"/>
                </a:solidFill>
                <a:latin typeface="Calibri"/>
              </a:rPr>
              <a:t>A hypothesis the Rust never checks = a defect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A8299"/>
                </a:solidFill>
                <a:latin typeface="Calibri"/>
              </a:defRPr>
            </a:pPr>
            <a:r>
              <a:t>Signal's own tests and hax/F* proofs passed. The 63 defects were found by asking what each proof had to assume.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A44"/>
                </a:solidFill>
                <a:latin typeface="Calibri"/>
              </a:defRPr>
            </a:pPr>
            <a:r>
              <a:t>The Verification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" y="1051560"/>
            <a:ext cx="10698480" cy="3253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44223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A4560"/>
                </a:solidFill>
                <a:latin typeface="Calibri"/>
              </a:defRPr>
            </a:pPr>
            <a:r>
              <a:t>Funs.lean is generated and trusted. The hand-written external models (dashed) are where an unsound model (D59) silently weakens proofs.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A44"/>
                </a:solidFill>
                <a:latin typeface="Calibri"/>
              </a:defRPr>
            </a:pPr>
            <a:r>
              <a:t>What Fuzzing Showed — and Didn't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" y="1051560"/>
            <a:ext cx="10698480" cy="34247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61347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A4560"/>
                </a:solidFill>
                <a:latin typeface="Calibri"/>
              </a:defRPr>
            </a:pPr>
            <a:r>
              <a:t>Left: nothing panics, yet D21 lives on the accepted (blue) path. Right: the Lean counter bound is a hypothesis a peer can exceed after ~156 K messages.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7263D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301752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A44"/>
                </a:solidFill>
                <a:latin typeface="Calibri"/>
              </a:defRPr>
            </a:pPr>
            <a:r>
              <a:t>The Project: Signal's SPQR, Re-verified in Lean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365760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A8299"/>
                </a:solidFill>
                <a:latin typeface="Calibri"/>
              </a:defRPr>
            </a:pPr>
            <a:r>
              <a:t>15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73152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6FEB"/>
                </a:solidFill>
                <a:latin typeface="Calibri"/>
              </a:defRPr>
            </a:pPr>
            <a: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55448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4560"/>
                </a:solidFill>
                <a:latin typeface="Calibri"/>
              </a:defRPr>
            </a:pPr>
            <a:r>
              <a:t>Sparse Post-Quantum Ratchet: the ML-KEM layer of Signal's Triple Ratchet (Rust crate spqr v1.5.0)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0698480" cy="73152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6FEB"/>
                </a:solidFill>
                <a:latin typeface="Calibri"/>
              </a:defRPr>
            </a:pPr>
            <a:r>
              <a:t>Upstream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2316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4560"/>
                </a:solidFill>
                <a:latin typeface="Calibri"/>
              </a:defRPr>
            </a:pPr>
            <a:r>
              <a:t>Signal verifies it with hax → F*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10698480" cy="73152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6FEB"/>
                </a:solidFill>
                <a:latin typeface="Calibri"/>
              </a:defRPr>
            </a:pPr>
            <a:r>
              <a:t>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9184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4560"/>
                </a:solidFill>
                <a:latin typeface="Calibri"/>
              </a:defRPr>
            </a:pPr>
            <a:r>
              <a:t>Independent re-verification: Rust → Aeneas → Lean 4, 246 spec theorems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59"/>
            <a:ext cx="10698480" cy="73152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6FEB"/>
                </a:solidFill>
                <a:latin typeface="Calibri"/>
              </a:defRPr>
            </a:pPr>
            <a: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1605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4560"/>
                </a:solidFill>
                <a:latin typeface="Calibri"/>
              </a:defRPr>
            </a:pPr>
            <a:r>
              <a:t>63 defects (D1–D63), each backed by a Lean proof or a runnable Rust counterexample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F6FEB"/>
                </a:solidFill>
                <a:latin typeface="Calibri"/>
              </a:defRPr>
            </a:pPr>
            <a:r>
              <a:t>Three root-cause 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94960"/>
            <a:ext cx="3429000" cy="9144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40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A44"/>
                </a:solidFill>
                <a:latin typeface="Calibri"/>
              </a:defRPr>
            </a:pPr>
            <a:r>
              <a:t>Authenticate after persist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52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299"/>
                </a:solidFill>
                <a:latin typeface="Calibri"/>
              </a:defRPr>
            </a:pPr>
            <a:r>
              <a:t>D16 D21 D22 D35 D36 D62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5394960"/>
            <a:ext cx="3429000" cy="9144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5440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A44"/>
                </a:solidFill>
                <a:latin typeface="Calibri"/>
              </a:defRPr>
            </a:pPr>
            <a:r>
              <a:t>from_pb copies without validating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852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299"/>
                </a:solidFill>
                <a:latin typeface="Calibri"/>
              </a:defRPr>
            </a:pPr>
            <a:r>
              <a:t>D1 D11–D14 D18 D19 D23 ... D61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5394960"/>
            <a:ext cx="3429000" cy="91440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5440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A44"/>
                </a:solidFill>
                <a:latin typeface="Calibri"/>
              </a:defRPr>
            </a:pPr>
            <a:r>
              <a:t>assume! erased at run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852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299"/>
                </a:solidFill>
                <a:latin typeface="Calibri"/>
              </a:defRPr>
            </a:pPr>
            <a:r>
              <a:t>D2 D3 D5 D8 D9 D25 D29 D37 D56 D57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A44"/>
                </a:solidFill>
                <a:latin typeface="Calibri"/>
              </a:defRPr>
            </a:pPr>
            <a:r>
              <a:t>63 Defects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e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862" y="1051560"/>
            <a:ext cx="964597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9495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A4560"/>
                </a:solidFill>
                <a:latin typeface="Calibri"/>
              </a:defRPr>
            </a:pPr>
            <a:r>
              <a:t>Left: fix status. Right: root-cause class — overflow and missing validation dominate by count; authentication ordering (red) is today's case study.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A44"/>
                </a:solidFill>
                <a:latin typeface="Calibri"/>
              </a:defRPr>
            </a:pPr>
            <a:r>
              <a:t>D21 as a Sequence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21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051560"/>
            <a:ext cx="9601200" cy="3922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111245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A4560"/>
                </a:solidFill>
                <a:latin typeface="Calibri"/>
              </a:defRPr>
            </a:pPr>
            <a:r>
              <a:t>One unauthenticated 4-byte message moves Bob to epoch 2. Alice rejects all of Bob's messages; Bob ignores all of Alice's. Permanent deadlock.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A44"/>
                </a:solidFill>
                <a:latin typeface="Calibri"/>
              </a:defRPr>
            </a:pPr>
            <a:r>
              <a:t>Where the MAC Is — and Isn't — Checked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" y="1051560"/>
            <a:ext cx="10698480" cy="39656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15434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A4560"/>
                </a:solidFill>
                <a:latin typeface="Calibri"/>
              </a:defRPr>
            </a:pPr>
            <a:r>
              <a:t>Green: the only edges that call the MAC. Red: edges that persist state with no Authenticator call. D21 is the red back-edge.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2A44"/>
                </a:solidFill>
                <a:latin typeface="Calibri"/>
              </a:defRPr>
            </a:pPr>
            <a:r>
              <a:t>Why Signal Is Safe From D21 — and Who Isn't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lib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" y="1051560"/>
            <a:ext cx="10698480" cy="41572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45983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A4560"/>
                </a:solidFill>
                <a:latin typeface="Calibri"/>
              </a:defRPr>
            </a:pPr>
            <a:r>
              <a:t>libsignal runs spqr::recv on a clone and commits only after the MAC passes. The protection lives outside SPQR; peers, other embedders and storage bypass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A44"/>
                </a:solidFill>
                <a:latin typeface="Calibri"/>
              </a:defRPr>
            </a:pPr>
            <a:r>
              <a:t>Three Roles, One Defect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555" y="1051560"/>
            <a:ext cx="7560583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9495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A4560"/>
                </a:solidFill>
                <a:latin typeface="Calibri"/>
              </a:defRPr>
            </a:pPr>
            <a:r>
              <a:t>No arrow is skippable: the forged bytes came from AI, the deadlock proof from cargo/Lean, the exploitability verdict from reading libsignal.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F2A44"/>
                </a:solidFill>
                <a:latin typeface="Calibri"/>
              </a:defRPr>
            </a:pPr>
            <a:r>
              <a:t>Why a Proof Is Not a Security Guarantee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365760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proof_vs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" y="1051560"/>
            <a:ext cx="10698480" cy="40058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194543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A4560"/>
                </a:solidFill>
                <a:latin typeface="Calibri"/>
              </a:defRPr>
            </a:pPr>
            <a:r>
              <a:t>Everything in the blue ellipse is machine-checked. Every defect is a true statement about the green region that no theorem mentioned.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A44"/>
                </a:solidFill>
                <a:latin typeface="Calibri"/>
              </a:defRPr>
            </a:pPr>
            <a:r>
              <a:t>Key Message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4389120"/>
          </a:xfrm>
          <a:prstGeom prst="round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2A44"/>
                </a:solidFill>
                <a:latin typeface="Calibri"/>
              </a:defRPr>
            </a:pPr>
            <a:r>
              <a:t>Even a Lean proof accepted by the kernel establishes only</a:t>
            </a:r>
            <a:br/>
            <a:r>
              <a:t>the formal proposition under its stated assumptions.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06324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7263D"/>
                </a:solidFill>
                <a:latin typeface="Calibri"/>
              </a:defRPr>
            </a:pPr>
            <a:r>
              <a:t>It does not, by itself, establish that the specification captures</a:t>
            </a:r>
            <a:br/>
            <a:r>
              <a:t>every security requirement of the real-world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480560"/>
            <a:ext cx="9784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A8299"/>
                </a:solidFill>
                <a:latin typeface="Calibri"/>
              </a:defRPr>
            </a:pPr>
            <a:r>
              <a:t>SPQR: 246 spec files, 0 sorry, ChainInv proved — and still 63 defects,</a:t>
            </a:r>
            <a:br/>
            <a:r>
              <a:t>found precisely by asking what each proof had to assume.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560320"/>
            <a:ext cx="4846320" cy="508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83464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F2A44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7A8299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A8299"/>
                </a:solidFill>
                <a:latin typeface="Calibri"/>
              </a:defRPr>
            </a:pPr>
            <a:r>
              <a:t>docs/report.md · docs/listDefects.md · docs/classificationBug.md · docs/bugSecurityRemote.md</a:t>
            </a:r>
            <a:br/>
            <a:r>
              <a:t>Spqr/Specs/Bugs/ProtocolDoS.lean · Spqr/Specs/Bugs/CorruptedBlobs.lean · docs/protocol_driver_counterexamples.rs.txt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