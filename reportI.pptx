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FD4EA"/>
                </a:solidFill>
                <a:latin typeface="Calibri"/>
              </a:rPr>
              <a:t>45-MINUTE SEMINAR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From AI-Assisted Verification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to Security Defect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6F0"/>
                </a:solidFill>
                <a:latin typeface="Calibri"/>
              </a:rPr>
              <a:t>How AI can help us reason about software—and find what can go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Speaker: Hoàng Le Trường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Friday, October 16, 2026 · 3:00 PM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2743200" cy="54864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Artificial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5577840"/>
            <a:ext cx="2743200" cy="54864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Formal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59" y="5577840"/>
            <a:ext cx="2743200" cy="548640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Software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Today’s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1 minute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10881360" cy="868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389888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86C1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533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Can We Trust Software?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37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5 minutes · Why software failures matter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67712"/>
            <a:ext cx="10881360" cy="868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86C1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34086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What Is Formal Verification?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249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8 minutes · Testing, specifications, and proofs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55264"/>
            <a:ext cx="10881360" cy="868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3364992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86C1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32841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How AI Assists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71246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10 minutes · AI-generated proofs and their limitations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10881360" cy="868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4352544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86C1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3159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Security Defect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70001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15 minutes · A practical case study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30368"/>
            <a:ext cx="10881360" cy="868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" y="5340096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86C1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303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Lessons and Takeaways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6875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7 minutes · What AI can and cannot guarantee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Can We Trust Software?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1 ·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86C1"/>
                </a:solidFill>
                <a:latin typeface="Calibri"/>
              </a:rPr>
              <a:t>A program can pass every test we try—and still contain a bug.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Consider a simple program that checks whether a user is authorized to perform an operation.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5760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Ordinary cases behave correctly.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Invalid inputs may follow an unexpected path.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An attacker may deliberately search for an unusual sequence of operations.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A rare failure can have a serious security impact.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Example: A simple authorization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286000"/>
            <a:ext cx="5120640" cy="137160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400">
                <a:solidFill>
                  <a:srgbClr val="E8E8E8"/>
                </a:solidFill>
                <a:latin typeface="Courier New"/>
              </a:rPr>
              <a:t>if user_is_authorized: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urier New"/>
              </a:rPr>
              <a:t>    perform_operation()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urier New"/>
              </a:rPr>
              <a:t>else: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urier New"/>
              </a:rPr>
              <a:t>    reject_request()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0392B"/>
                </a:solidFill>
                <a:latin typeface="Calibri"/>
              </a:rPr>
              <a:t>Question: Is checking this condition enough to guarantee that the operation is secure?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80"/>
            <a:ext cx="11155680" cy="91440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32180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Testing finds failures in selected executions. Formal verification reasons about stated properties of program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Testing vs. Formal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2 · 8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  <a:latin typeface="Calibri"/>
              </a:rPr>
              <a:t>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What does the program do on these inputs?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Run the program on selected inputs.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Observe the outputs and behavior.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Find bugs through test cases.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Coverage depends on the tests performed.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  <a:latin typeface="Calibri"/>
              </a:rPr>
              <a:t>Formal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Can we prove a stated property under explicit assumptions?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Express requirements mathematically.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Model relevant program behavior.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Construct a machine-checkable proof.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Establish a guarantee within the formal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Suppose a function adds two natural numbers:   f(a, b) = a + b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We want to establish the property:   ∀ a, b ∈ ℕ,  f(a, b) = a + b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Testing can evaluate selected pairs. A formal proof can establish the property for every pair of natural numbers, provided the implementation and statement are correctly formalized.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69280"/>
            <a:ext cx="11155680" cy="64008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5779008"/>
            <a:ext cx="107899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Key distinction: Testing samples executions; formal verification establishes specified properties within a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Specification, Implementation, and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3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1. Specification — What should happen?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A precise statement of the intended behavior.</a:t>
            </a:r>
          </a:p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Example: An unauthenticated message must not advance the session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496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2. Implementation — What does the code 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The actual instructions, conditions, state transitions, and message-handling logic.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373075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3. Proof — Why is the property true?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A formal argument that the implementation satisfies the specification under stated assumptions.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Important question: What if the specification itself is wrong or incomplete?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A proof may be mathematically valid while the system still fails to satisfy its real-world security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Is Lean, and Why Use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2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Lean is an interactive theorem prover and programming language.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It allows us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Express mathematical definitions and theorems precisely.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Construct proofs using tactics and reusable lemmas.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Encode properties of programs and mathematical structures.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Calibri"/>
              </a:rPr>
              <a:t>•  Check proof terms with Lean's trusted kernel.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A tiny Lean 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00200"/>
            <a:ext cx="5212080" cy="10058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400">
                <a:solidFill>
                  <a:srgbClr val="E8E8E8"/>
                </a:solidFill>
                <a:latin typeface="Courier New"/>
              </a:rPr>
              <a:t>theorem add_zero (n : Nat) : n + 0 = n := by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urier New"/>
              </a:rPr>
              <a:t>  rfl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This theorem states that adding zero to a natural number leaves it unchanged.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461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Nat represents natural numbers.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theorem introduces a proposition to prove.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by starts the proof.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44"/>
                </a:solidFill>
                <a:latin typeface="Calibri"/>
              </a:rPr>
              <a:t>•  rfl proves the equality by definitional reduction.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155680" cy="82296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550468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The important idea: Lean checks whether the proof establishes the stated proposition.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How AI Assists Formal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3 · 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Calibri"/>
              </a:rPr>
              <a:t>1. 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Explain unfamiliar code, definitions, and proof goals in natural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Calibri"/>
              </a:rPr>
              <a:t>2. Suggest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Recommend useful lemmas, tactics, and proof strategies.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Calibri"/>
              </a:rPr>
              <a:t>3. 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Draft Lean code and candidate proofs.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86C1"/>
                </a:solidFill>
                <a:latin typeface="Calibri"/>
              </a:rPr>
              <a:t>4. 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262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Try alternative proof approaches and investigate why a proof gets stuck.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AI-Generated Proofs Need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3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Failure 1: Invalid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AI generates code that does not compile or does not prove the goal.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Failure 2: Wrong Property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The proof establishes a weaker property than the one needed for security.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Failure 3: Missing Assumptions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The formal model omits relevant system behavior or environmental conditions.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00400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Failure 4: False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Calibri"/>
              </a:rPr>
              <a:t>A successful proof is interpreted as a guarantee that the whole system is secure.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155680" cy="82296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545896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AI output  →  Lean checks the proof  →  Humans check the specification and assumptions.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Case Study: When a Protocol Accepts the Wrong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4 · 15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155680" cy="6400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Security goal: An unauthenticated control message must not cause an unauthorized state transition.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394960" cy="26517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8449"/>
                </a:solidFill>
                <a:latin typeface="Calibri"/>
              </a:rPr>
              <a:t>Intended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1. Receive a control message.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2. Verify the required authentication conditions.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3. Validate the message's meaning and context.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4. Apply the state transition only if all required checks succeed.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5394960" cy="26517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Potentially defective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1. Receive a control message.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2. Advance the protocol state.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3. Verify authentication.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4. Reject the message if authentication fails.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The key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492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What happens if the message is rejected after the protocol state has already changed?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From Code Reading to a Validated Defect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51760" cy="39319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Step 1 — 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AI helps summarize control flow, message handling, and state transitions.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651760" cy="39319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Step 2 — Hypothesize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603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Identify a suspicious ordering, missing condition, or inconsistency with the security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2651760" cy="39319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Step 3 — Construct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Propose a message sequence, execution trace, or counterexample that could violate the intended property.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554480"/>
            <a:ext cx="2651760" cy="39319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35440" y="1691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Step 4 — 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5603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Reproduce the behavior and check the result against the implementation, model, tests, or formal properties.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Calibri"/>
              </a:rPr>
              <a:t>Report a defect only when the evidence is strong enough.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Three Complementary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86C1"/>
                </a:solidFill>
                <a:latin typeface="Calibri"/>
              </a:rPr>
              <a:t>AI Proposes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Hypotheses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Proof strategies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Failure scenarios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86C1"/>
                </a:solidFill>
                <a:latin typeface="Calibri"/>
              </a:rPr>
              <a:t>Formal Tools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Proof validity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Stated properties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Model-specific counterexamples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86C1"/>
                </a:solidFill>
                <a:latin typeface="Calibri"/>
              </a:rPr>
              <a:t>Humans 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774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Specification quality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Practical exploitability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Calibri"/>
              </a:rPr>
              <a:t>•  Security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0640"/>
            <a:ext cx="11155680" cy="91440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52303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The strongest workflow combines AI exploration, machine-checkable evidence, and expert judgment.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Lessons, Limitations, and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20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4EA"/>
                </a:solidFill>
                <a:latin typeface="Calibri"/>
              </a:rPr>
              <a:t>Part 5 · 7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From AI-Assisted Verification to Security Defect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Five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1. Testing is useful, but incomplete. It examines selected executions.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2. Formal verification provides precise guarantees. Those guarantees depend on the specification and assumptions.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3. AI accelerates exploration. It can assist proof development and identify suspicious behavior.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4. Proof does not equal security. A valid proof may establish a property that is too weak or incomplete.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5. Human judgment remains essential. Real security analysis requires understanding the system and its threat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143000"/>
            <a:ext cx="4297680" cy="42062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89520" y="1280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C1"/>
                </a:solidFill>
                <a:latin typeface="Calibri"/>
              </a:rPr>
              <a:t>Questions for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73736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If an AI-generated proof is accepted by Lean, what exactly have we established?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Can a perfectly verified program still be insecure?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44"/>
                </a:solidFill>
                <a:latin typeface="Calibri"/>
              </a:rPr>
              <a:t>•  Where should human judgment remain in an AI-assisted workflow?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1155680" cy="73152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564184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Final message: Use AI to explore more possibilities—and use verification to check the claims.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