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Calibri"/>
              </a:defRPr>
            </a:pPr>
            <a:r>
              <a:t>Two Bugs Found by Formal Verification</a:t>
            </a:r>
          </a:p>
          <a:p>
            <a:pPr>
              <a:defRPr sz="1600" b="0">
                <a:solidFill>
                  <a:srgbClr val="555B6E"/>
                </a:solidFill>
                <a:latin typeface="Calibri"/>
              </a:defRPr>
            </a:pPr>
            <a:r>
              <a:t>SPQR Lean Spec Audit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188720"/>
            <a:ext cx="10911535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2B2B"/>
                </a:solidFill>
                <a:latin typeface="Calibri"/>
              </a:defRPr>
            </a:pPr>
            <a:r>
              <a:t>#1  Crash from Untrusted State Blob</a:t>
            </a:r>
          </a:p>
          <a:p>
            <a:pPr>
              <a:defRPr sz="1400" b="1">
                <a:solidFill>
                  <a:srgbClr val="C02B2B"/>
                </a:solidFill>
                <a:latin typeface="Calibri"/>
              </a:defRPr>
            </a:pPr>
            <a:r>
              <a:t>HIGH</a:t>
            </a:r>
          </a:p>
          <a:p>
            <a:pPr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500" b="1">
                <a:solidFill>
                  <a:srgbClr val="1A56DB"/>
                </a:solidFill>
                <a:latin typeface="Calibri"/>
              </a:defRPr>
            </a:pPr>
            <a:r>
              <a:t>The Problem</a:t>
            </a:r>
          </a:p>
          <a:p>
            <a:pPr>
              <a:defRPr sz="1400" b="0">
                <a:solidFill>
                  <a:srgbClr val="1E1E2E"/>
                </a:solidFill>
                <a:latin typeface="Calibri"/>
              </a:defRPr>
            </a:pPr>
            <a:r>
              <a:t>When the app reloads saved state, it trusts the data blindly.</a:t>
            </a:r>
          </a:p>
          <a:p>
            <a:pPr>
              <a:defRPr sz="1400" b="0">
                <a:solidFill>
                  <a:srgbClr val="1E1E2E"/>
                </a:solidFill>
                <a:latin typeface="Calibri"/>
              </a:defRPr>
            </a:pPr>
            <a:r>
              <a:t>If the blob is corrupted or tampered with, the app crashes.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500" b="1">
                <a:solidFill>
                  <a:srgbClr val="1A56DB"/>
                </a:solidFill>
                <a:latin typeface="Calibri"/>
              </a:defRPr>
            </a:pPr>
            <a:r>
              <a:t>How the Spec Found It</a:t>
            </a:r>
          </a:p>
          <a:p>
            <a:pPr>
              <a:defRPr sz="1400" b="0">
                <a:solidFill>
                  <a:srgbClr val="555B6E"/>
                </a:solidFill>
                <a:latin typeface="Calibri"/>
              </a:defRPr>
            </a:pPr>
            <a:r>
              <a:t>We wrote specs for the loader and its consumers separately.</a:t>
            </a:r>
          </a:p>
          <a:p>
            <a:pPr>
              <a:defRPr sz="1400" b="0">
                <a:solidFill>
                  <a:srgbClr val="555B6E"/>
                </a:solidFill>
                <a:latin typeface="Calibri"/>
              </a:defRPr>
            </a:pPr>
            <a:r>
              <a:t>The loader promises nothing. The consumers require guarantees.</a:t>
            </a:r>
          </a:p>
          <a:p>
            <a:pPr>
              <a:defRPr sz="1400" b="0">
                <a:solidFill>
                  <a:srgbClr val="555B6E"/>
                </a:solidFill>
                <a:latin typeface="Calibri"/>
              </a:defRPr>
            </a:pPr>
            <a:r>
              <a:t>The gap between them is the bug — no code connects the two.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1A7D3A"/>
                </a:solidFill>
                <a:latin typeface="Calibri"/>
              </a:defRPr>
            </a:pPr>
            <a:r>
              <a:t>Fix:  Check the data when loading. Reject bad blobs.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6A10"/>
                </a:solidFill>
                <a:latin typeface="Calibri"/>
              </a:defRPr>
            </a:pPr>
            <a:r>
              <a:t>#16  Save/Load Loses Zero Polynomials</a:t>
            </a:r>
          </a:p>
          <a:p>
            <a:pPr>
              <a:defRPr sz="1400" b="1">
                <a:solidFill>
                  <a:srgbClr val="C46A10"/>
                </a:solidFill>
                <a:latin typeface="Calibri"/>
              </a:defRPr>
            </a:pPr>
            <a:r>
              <a:t>MEDIUM</a:t>
            </a:r>
          </a:p>
          <a:p>
            <a:pPr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500" b="1">
                <a:solidFill>
                  <a:srgbClr val="1A56DB"/>
                </a:solidFill>
                <a:latin typeface="Calibri"/>
              </a:defRPr>
            </a:pPr>
            <a:r>
              <a:t>The Problem</a:t>
            </a:r>
          </a:p>
          <a:p>
            <a:pPr>
              <a:defRPr sz="1400" b="0">
                <a:solidFill>
                  <a:srgbClr val="1E1E2E"/>
                </a:solidFill>
                <a:latin typeface="Calibri"/>
              </a:defRPr>
            </a:pPr>
            <a:r>
              <a:t>Saving a zero polynomial produces empty bytes.</a:t>
            </a:r>
          </a:p>
          <a:p>
            <a:pPr>
              <a:defRPr sz="1400" b="0">
                <a:solidFill>
                  <a:srgbClr val="1E1E2E"/>
                </a:solidFill>
                <a:latin typeface="Calibri"/>
              </a:defRPr>
            </a:pPr>
            <a:r>
              <a:t>Loading rejects empty bytes as invalid.</a:t>
            </a:r>
          </a:p>
          <a:p>
            <a:pPr>
              <a:defRPr sz="1400" b="0">
                <a:solidFill>
                  <a:srgbClr val="1E1E2E"/>
                </a:solidFill>
                <a:latin typeface="Calibri"/>
              </a:defRPr>
            </a:pPr>
            <a:r>
              <a:t>So save → load is broken for any encoder with an empty slot.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500" b="1">
                <a:solidFill>
                  <a:srgbClr val="1A56DB"/>
                </a:solidFill>
                <a:latin typeface="Calibri"/>
              </a:defRPr>
            </a:pPr>
            <a:r>
              <a:t>How the Spec Found It</a:t>
            </a:r>
          </a:p>
          <a:p>
            <a:pPr>
              <a:defRPr sz="1400" b="0">
                <a:solidFill>
                  <a:srgbClr val="555B6E"/>
                </a:solidFill>
                <a:latin typeface="Calibri"/>
              </a:defRPr>
            </a:pPr>
            <a:r>
              <a:t>Three specs chain together: “zero → empty”, “serialize → bytes”,</a:t>
            </a:r>
          </a:p>
          <a:p>
            <a:pPr>
              <a:defRPr sz="1400" b="0">
                <a:solidFill>
                  <a:srgbClr val="555B6E"/>
                </a:solidFill>
                <a:latin typeface="Calibri"/>
              </a:defRPr>
            </a:pPr>
            <a:r>
              <a:t>“deserialize rejects empty”. The contradiction is immediate.</a:t>
            </a:r>
          </a:p>
          <a:p>
            <a:pPr>
              <a:defRPr sz="1300" b="0">
                <a:solidFill>
                  <a:srgbClr val="555B6E"/>
                </a:solidFill>
                <a:latin typeface="Calibri"/>
              </a:defRPr>
            </a:pPr>
            <a:r>
              <a:t>V1 never hits this (messages large enough), but the API is broken.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1A7D3A"/>
                </a:solidFill>
                <a:latin typeface="Calibri"/>
              </a:defRPr>
            </a:pPr>
            <a:r>
              <a:t>Fix:  Accept empty bytes as the zero polynomial.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55B6E"/>
                </a:solidFill>
                <a:latin typeface="Calibri"/>
              </a:defRPr>
            </a:pPr>
            <a:r>
              <a:t>Not reachable from Signal:</a:t>
            </a:r>
          </a:p>
          <a:p>
            <a:pPr>
              <a:defRPr sz="1100" b="0">
                <a:solidFill>
                  <a:srgbClr val="6C6C6C"/>
                </a:solidFill>
                <a:latin typeface="Calibri"/>
              </a:defRPr>
            </a:pPr>
            <a:r>
              <a:t>#1 — Signal’s MAC-before-commit pattern authenticates every inbound message before state is committed. A remote attacker cannot inject a corrupted state blob through the network — it requires local access to the device’s persisted storage.</a:t>
            </a:r>
          </a:p>
          <a:p>
            <a:pPr>
              <a:defRPr sz="1100" b="0">
                <a:solidFill>
                  <a:srgbClr val="6C6C6C"/>
                </a:solidFill>
                <a:latin typeface="Calibri"/>
              </a:defRPr>
            </a:pPr>
            <a:r>
              <a:t>#16 — The V1 protocol only encodes messages ≥96 bytes, which always fill all 16 polynomial slots. The zero-polynomial path is unreachable in Signal’s usage; only direct API callers with very short messages can trigger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D3A"/>
                </a:solidFill>
                <a:latin typeface="Calibri"/>
              </a:defRPr>
            </a:pPr>
            <a:r>
              <a:t>Takeaway:  The math tells you exactly where the code breaks its own promises.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