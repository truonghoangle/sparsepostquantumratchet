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1F3864"/>
          </a:solidFill>
          <a:ln/>
        </p:spPr>
      </p:sp>
      <p:sp>
        <p:nvSpPr>
          <p:cNvPr id="3" name="Text 1"/>
          <p:cNvSpPr/>
          <p:nvPr>
            <p:ph idx="101" type="title" hasCustomPrompt="1"/>
          </p:nvPr>
        </p:nvSpPr>
        <p:spPr>
          <a:xfrm>
            <a:off x="457200" y="91440"/>
            <a:ext cx="11247120" cy="640080"/>
          </a:xfrm>
          <a:prstGeom prst="rect">
            <a:avLst/>
          </a:prstGeom>
          <a:noFill/>
          <a:ln/>
        </p:spPr>
        <p:txBody>
          <a:bodyPr wrap="square" rtlCol="0"/>
          <a:lstStyle>
            <a:lvl1pPr indent="0" marL="0">
              <a:buNone/>
              <a:defRPr lang="en-US" sz="2600" b="1" dirty="0">
                <a:solidFill>
                  <a:srgbClr val="FFFFFF"/>
                </a:solidFill>
                <a:latin typeface="Calibri" pitchFamily="34" charset="0"/>
                <a:ea typeface="Calibri" pitchFamily="34" charset="-122"/>
                <a:cs typeface="Calibri" pitchFamily="34" charset="-120"/>
              </a:defRPr>
            </a:lvl1pPr>
          </a:lstStyle>
          <a:p>
            <a:pPr indent="0" marL="0">
              <a:buNone/>
            </a:pPr>
            <a:endParaRPr lang="en-US" sz="2600" dirty="0"/>
          </a:p>
        </p:txBody>
      </p:sp>
      <p:sp>
        <p:nvSpPr>
          <p:cNvPr id="4" name="Text 1"/>
          <p:cNvSpPr/>
          <p:nvPr/>
        </p:nvSpPr>
        <p:spPr>
          <a:xfrm>
            <a:off x="457200" y="6446520"/>
            <a:ext cx="8229600" cy="320040"/>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Verifying SPQR in Lean 4  |  snapshot 2026-09-05, main @ 5e77690</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371600"/>
            <a:ext cx="10698480" cy="11887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Formal Verification of SPQR in Lean 4</a:t>
            </a:r>
            <a:endParaRPr lang="en-US" sz="4000" dirty="0"/>
          </a:p>
        </p:txBody>
      </p:sp>
      <p:sp>
        <p:nvSpPr>
          <p:cNvPr id="3" name="Text 1"/>
          <p:cNvSpPr/>
          <p:nvPr/>
        </p:nvSpPr>
        <p:spPr>
          <a:xfrm>
            <a:off x="731520" y="2560320"/>
            <a:ext cx="10698480" cy="548640"/>
          </a:xfrm>
          <a:prstGeom prst="rect">
            <a:avLst/>
          </a:prstGeom>
          <a:noFill/>
          <a:ln/>
        </p:spPr>
        <p:txBody>
          <a:bodyPr wrap="square" rtlCol="0" anchor="ctr"/>
          <a:lstStyle/>
          <a:p>
            <a:pPr indent="0" marL="0">
              <a:buNone/>
            </a:pPr>
            <a:r>
              <a:rPr lang="en-US" sz="2000" dirty="0">
                <a:solidFill>
                  <a:srgbClr val="BDD7EE"/>
                </a:solidFill>
                <a:latin typeface="Calibri" pitchFamily="34" charset="0"/>
                <a:ea typeface="Calibri" pitchFamily="34" charset="-122"/>
                <a:cs typeface="Calibri" pitchFamily="34" charset="-120"/>
              </a:rPr>
              <a:t>Progress report: machine-checked proofs for Signal's Sparse Post-Quantum Ratchet</a:t>
            </a:r>
            <a:endParaRPr lang="en-US" sz="2000" dirty="0"/>
          </a:p>
        </p:txBody>
      </p:sp>
      <p:sp>
        <p:nvSpPr>
          <p:cNvPr id="4" name="Text 2"/>
          <p:cNvSpPr/>
          <p:nvPr/>
        </p:nvSpPr>
        <p:spPr>
          <a:xfrm>
            <a:off x="731520" y="3474720"/>
            <a:ext cx="10698480" cy="731520"/>
          </a:xfrm>
          <a:prstGeom prst="rect">
            <a:avLst/>
          </a:prstGeom>
          <a:solidFill>
            <a:srgbClr val="2F4F7F"/>
          </a:solidFill>
          <a:ln/>
        </p:spPr>
        <p:txBody>
          <a:bodyPr wrap="square" lIns="152400" tIns="152400" rIns="152400" bIns="152400" rtlCol="0" anchor="ctr"/>
          <a:lstStyle/>
          <a:p>
            <a:pPr algn="ctr" indent="0" marL="0">
              <a:buNone/>
            </a:pPr>
            <a:r>
              <a:rPr lang="en-US" sz="2200" dirty="0">
                <a:solidFill>
                  <a:srgbClr val="FFFFFF"/>
                </a:solidFill>
                <a:latin typeface="Consolas" pitchFamily="34" charset="0"/>
                <a:ea typeface="Consolas" pitchFamily="34" charset="-122"/>
                <a:cs typeface="Consolas" pitchFamily="34" charset="-120"/>
              </a:rPr>
              <a:t>Rust  →  Charon  →  Aeneas  →  Lean 4 spec theorems  →  ✓</a:t>
            </a:r>
            <a:endParaRPr lang="en-US" sz="2200" dirty="0"/>
          </a:p>
        </p:txBody>
      </p:sp>
      <p:sp>
        <p:nvSpPr>
          <p:cNvPr id="5" name="Text 3"/>
          <p:cNvSpPr/>
          <p:nvPr/>
        </p:nvSpPr>
        <p:spPr>
          <a:xfrm>
            <a:off x="731520" y="4480560"/>
            <a:ext cx="10698480" cy="457200"/>
          </a:xfrm>
          <a:prstGeom prst="rect">
            <a:avLst/>
          </a:prstGeom>
          <a:noFill/>
          <a:ln/>
        </p:spPr>
        <p:txBody>
          <a:bodyPr wrap="square" rtlCol="0" anchor="ctr"/>
          <a:lstStyle/>
          <a:p>
            <a:pPr indent="0" marL="0">
              <a:buNone/>
            </a:pPr>
            <a:r>
              <a:rPr lang="en-US" sz="1400" i="1" dirty="0">
                <a:solidFill>
                  <a:srgbClr val="BDD7EE"/>
                </a:solidFill>
                <a:latin typeface="Calibri" pitchFamily="34" charset="0"/>
                <a:ea typeface="Calibri" pitchFamily="34" charset="-122"/>
                <a:cs typeface="Calibri" pitchFamily="34" charset="-120"/>
              </a:rPr>
              <a:t>Every slide starts with a one-line summary in plain language. The details below it are for the technical audience.</a:t>
            </a:r>
            <a:endParaRPr lang="en-US" sz="1400" dirty="0"/>
          </a:p>
        </p:txBody>
      </p:sp>
      <p:sp>
        <p:nvSpPr>
          <p:cNvPr id="6" name="Text 4"/>
          <p:cNvSpPr/>
          <p:nvPr/>
        </p:nvSpPr>
        <p:spPr>
          <a:xfrm>
            <a:off x="731520" y="5943600"/>
            <a:ext cx="10698480" cy="365760"/>
          </a:xfrm>
          <a:prstGeom prst="rect">
            <a:avLst/>
          </a:prstGeom>
          <a:noFill/>
          <a:ln/>
        </p:spPr>
        <p:txBody>
          <a:bodyPr wrap="square" rtlCol="0" anchor="ctr"/>
          <a:lstStyle/>
          <a:p>
            <a:pPr indent="0" marL="0">
              <a:buNone/>
            </a:pPr>
            <a:r>
              <a:rPr lang="en-US" sz="1300" dirty="0">
                <a:solidFill>
                  <a:srgbClr val="BDD7EE"/>
                </a:solidFill>
                <a:latin typeface="Calibri" pitchFamily="34" charset="0"/>
                <a:ea typeface="Calibri" pitchFamily="34" charset="-122"/>
                <a:cs typeface="Calibri" pitchFamily="34" charset="-120"/>
              </a:rPr>
              <a:t>The Beneficial AI Foundation  |  upstream: signalapp/SparsePostQuantumRatchet  |  data snapshot 2026-09-05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 · What is SPQR, and what are we doing to it?</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We are proving, with a computer-checked proof, that Signal's post-quantum code does what it is supposed to do.</a:t>
            </a:r>
            <a:endParaRPr lang="en-US" sz="1400" dirty="0"/>
          </a:p>
        </p:txBody>
      </p:sp>
      <p:sp>
        <p:nvSpPr>
          <p:cNvPr id="4" name="Text 2"/>
          <p:cNvSpPr/>
          <p:nvPr/>
        </p:nvSpPr>
        <p:spPr>
          <a:xfrm>
            <a:off x="548640" y="1371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In plain terms</a:t>
            </a:r>
            <a:endParaRPr lang="en-US" sz="1400" dirty="0"/>
          </a:p>
        </p:txBody>
      </p:sp>
      <p:sp>
        <p:nvSpPr>
          <p:cNvPr id="5" name="Text 3"/>
          <p:cNvSpPr/>
          <p:nvPr/>
        </p:nvSpPr>
        <p:spPr>
          <a:xfrm>
            <a:off x="548640" y="1691640"/>
            <a:ext cx="5486400" cy="4023360"/>
          </a:xfrm>
          <a:prstGeom prst="rect">
            <a:avLst/>
          </a:prstGeom>
          <a:noFill/>
          <a:ln/>
        </p:spPr>
        <p:txBody>
          <a:bodyPr wrap="square" rtlCol="0" anchor="t"/>
          <a:lstStyle/>
          <a:p>
            <a:pPr marL="342900" indent="-342900">
              <a:spcAft>
                <a:spcPts val="500"/>
              </a:spcAft>
              <a:buSzPct val="100000"/>
              <a:buChar char="•"/>
            </a:pPr>
            <a:r>
              <a:rPr lang="en-US" sz="1400" dirty="0">
                <a:solidFill>
                  <a:srgbClr val="222222"/>
                </a:solidFill>
                <a:latin typeface="Calibri" pitchFamily="34" charset="0"/>
                <a:ea typeface="Calibri" pitchFamily="34" charset="-122"/>
                <a:cs typeface="Calibri" pitchFamily="34" charset="-120"/>
              </a:rPr>
              <a:t>SPQR (Sparse Post-Quantum Ratchet) is the Rust library Signal uses to keep messages secret even against future quantum computers.</a:t>
            </a:r>
            <a:endParaRPr lang="en-US" sz="1400" dirty="0"/>
          </a:p>
          <a:p>
            <a:pPr marL="342900" indent="-342900">
              <a:spcAft>
                <a:spcPts val="500"/>
              </a:spcAft>
              <a:buSzPct val="100000"/>
              <a:buChar char="•"/>
            </a:pPr>
            <a:r>
              <a:rPr lang="en-US" sz="1400" dirty="0">
                <a:solidFill>
                  <a:srgbClr val="222222"/>
                </a:solidFill>
                <a:latin typeface="Calibri" pitchFamily="34" charset="0"/>
                <a:ea typeface="Calibri" pitchFamily="34" charset="-122"/>
                <a:cs typeface="Calibri" pitchFamily="34" charset="-120"/>
              </a:rPr>
              <a:t>The new quantum-safe keys are big. SPQR cuts them into 32-byte pieces and sends one piece per message. Thanks to a clever encoding, the receiver can rebuild the key even if some pieces are missing.</a:t>
            </a:r>
            <a:endParaRPr lang="en-US" sz="1400" dirty="0"/>
          </a:p>
          <a:p>
            <a:pPr marL="342900" indent="-342900">
              <a:spcAft>
                <a:spcPts val="500"/>
              </a:spcAft>
              <a:buSzPct val="100000"/>
              <a:buChar char="•"/>
            </a:pPr>
            <a:r>
              <a:rPr lang="en-US" sz="1400" dirty="0">
                <a:solidFill>
                  <a:srgbClr val="222222"/>
                </a:solidFill>
                <a:latin typeface="Calibri" pitchFamily="34" charset="0"/>
                <a:ea typeface="Calibri" pitchFamily="34" charset="-122"/>
                <a:cs typeface="Calibri" pitchFamily="34" charset="-120"/>
              </a:rPr>
              <a:t>Tests check a few inputs. A proof checks every possible input, so a whole class of bugs is ruled out for good.</a:t>
            </a:r>
            <a:endParaRPr lang="en-US" sz="1400" dirty="0"/>
          </a:p>
        </p:txBody>
      </p:sp>
      <p:sp>
        <p:nvSpPr>
          <p:cNvPr id="6" name="Text 4"/>
          <p:cNvSpPr/>
          <p:nvPr/>
        </p:nvSpPr>
        <p:spPr>
          <a:xfrm>
            <a:off x="6309360" y="1371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For the technical audience</a:t>
            </a:r>
            <a:endParaRPr lang="en-US" sz="1400" dirty="0"/>
          </a:p>
        </p:txBody>
      </p:sp>
      <p:sp>
        <p:nvSpPr>
          <p:cNvPr id="7" name="Text 5"/>
          <p:cNvSpPr/>
          <p:nvPr/>
        </p:nvSpPr>
        <p:spPr>
          <a:xfrm>
            <a:off x="6309360" y="1691640"/>
            <a:ext cx="5394960" cy="4023360"/>
          </a:xfrm>
          <a:prstGeom prst="rect">
            <a:avLst/>
          </a:prstGeom>
          <a:noFill/>
          <a:ln/>
        </p:spPr>
        <p:txBody>
          <a:bodyPr wrap="square" rtlCol="0" anchor="t"/>
          <a:lstStyle/>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The Rust code is translated automatically into Lean 4 (Rust → Charon → Aeneas → SrcTranslated/). We never rewrite the code by hand.</a:t>
            </a:r>
            <a:endParaRPr lang="en-US" sz="1300" dirty="0"/>
          </a:p>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For each Rust function we write a theorem in Spqr/Specs/ saying what it must do. Shared math (the field GF(2¹⁶), Lagrange interpolation, …) lives in Spqr/Math/.</a:t>
            </a:r>
            <a:endParaRPr lang="en-US" sz="1300" dirty="0"/>
          </a:p>
          <a:p>
            <a:pPr marL="342900" indent="-342900">
              <a:spcAft>
                <a:spcPts val="500"/>
              </a:spcAft>
              <a:buSzPct val="100000"/>
              <a:buChar char="•"/>
            </a:pPr>
            <a:r>
              <a:rPr lang="en-US" sz="1300" dirty="0">
                <a:solidFill>
                  <a:srgbClr val="222222"/>
                </a:solidFill>
                <a:latin typeface="Consolas" pitchFamily="34" charset="0"/>
                <a:ea typeface="Consolas" pitchFamily="34" charset="-122"/>
                <a:cs typeface="Consolas" pitchFamily="34" charset="-120"/>
              </a:rPr>
              <a:t>f args ⦃ result =&gt; postcondition ⦄   — the shape of every theorem; the step* tactic chains the theorems of the functions being called.</a:t>
            </a:r>
            <a:endParaRPr lang="en-US" sz="1300" dirty="0"/>
          </a:p>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What we trust: the Lean kernel, the Aeneas translation, and a few axioms for external crates (libcrux, prost, bytes).</a:t>
            </a:r>
            <a:endParaRPr lang="en-US" sz="1300" dirty="0"/>
          </a:p>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Project by the Beneficial AI Foundation. Our Lean is Apache-2.0; the Rust and its translation stay AGPL-3.</a:t>
            </a:r>
            <a:endParaRPr lang="en-US" sz="1300" dirty="0"/>
          </a:p>
        </p:txBody>
      </p:sp>
      <p:sp>
        <p:nvSpPr>
          <p:cNvPr id="8" name="Shape 6"/>
          <p:cNvSpPr/>
          <p:nvPr/>
        </p:nvSpPr>
        <p:spPr>
          <a:xfrm>
            <a:off x="548640" y="5760720"/>
            <a:ext cx="2011680" cy="502920"/>
          </a:xfrm>
          <a:prstGeom prst="rect">
            <a:avLst/>
          </a:prstGeom>
          <a:solidFill>
            <a:srgbClr val="2E75B6"/>
          </a:solidFill>
          <a:ln w="12700">
            <a:solidFill>
              <a:srgbClr val="FFFFFF"/>
            </a:solidFill>
            <a:prstDash val="solid"/>
          </a:ln>
        </p:spPr>
      </p:sp>
      <p:sp>
        <p:nvSpPr>
          <p:cNvPr id="9" name="Text 7"/>
          <p:cNvSpPr/>
          <p:nvPr/>
        </p:nvSpPr>
        <p:spPr>
          <a:xfrm>
            <a:off x="548640" y="5760720"/>
            <a:ext cx="20116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Rust code (src/)</a:t>
            </a:r>
            <a:endParaRPr lang="en-US" sz="1100" dirty="0"/>
          </a:p>
        </p:txBody>
      </p:sp>
      <p:sp>
        <p:nvSpPr>
          <p:cNvPr id="10" name="Text 8"/>
          <p:cNvSpPr/>
          <p:nvPr/>
        </p:nvSpPr>
        <p:spPr>
          <a:xfrm>
            <a:off x="2560320" y="5760720"/>
            <a:ext cx="228600" cy="502920"/>
          </a:xfrm>
          <a:prstGeom prst="rect">
            <a:avLst/>
          </a:prstGeom>
          <a:noFill/>
          <a:ln/>
        </p:spPr>
        <p:txBody>
          <a:bodyPr wrap="square" rtlCol="0" anchor="ctr"/>
          <a:lstStyle/>
          <a:p>
            <a:pPr algn="ctr" indent="0" marL="0">
              <a:buNone/>
            </a:pPr>
            <a:r>
              <a:rPr lang="en-US" sz="1400" dirty="0">
                <a:solidFill>
                  <a:srgbClr val="1F3864"/>
                </a:solidFill>
              </a:rPr>
              <a:t>➜</a:t>
            </a:r>
            <a:endParaRPr lang="en-US" sz="1400" dirty="0"/>
          </a:p>
        </p:txBody>
      </p:sp>
      <p:sp>
        <p:nvSpPr>
          <p:cNvPr id="11" name="Shape 9"/>
          <p:cNvSpPr/>
          <p:nvPr/>
        </p:nvSpPr>
        <p:spPr>
          <a:xfrm>
            <a:off x="2788920" y="5760720"/>
            <a:ext cx="2011680" cy="502920"/>
          </a:xfrm>
          <a:prstGeom prst="rect">
            <a:avLst/>
          </a:prstGeom>
          <a:solidFill>
            <a:srgbClr val="2E75B6"/>
          </a:solidFill>
          <a:ln w="12700">
            <a:solidFill>
              <a:srgbClr val="FFFFFF"/>
            </a:solidFill>
            <a:prstDash val="solid"/>
          </a:ln>
        </p:spPr>
      </p:sp>
      <p:sp>
        <p:nvSpPr>
          <p:cNvPr id="12" name="Text 10"/>
          <p:cNvSpPr/>
          <p:nvPr/>
        </p:nvSpPr>
        <p:spPr>
          <a:xfrm>
            <a:off x="2788920" y="5760720"/>
            <a:ext cx="20116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Charon: read the code</a:t>
            </a:r>
            <a:endParaRPr lang="en-US" sz="1100" dirty="0"/>
          </a:p>
        </p:txBody>
      </p:sp>
      <p:sp>
        <p:nvSpPr>
          <p:cNvPr id="13" name="Text 11"/>
          <p:cNvSpPr/>
          <p:nvPr/>
        </p:nvSpPr>
        <p:spPr>
          <a:xfrm>
            <a:off x="4800600" y="5760720"/>
            <a:ext cx="228600" cy="502920"/>
          </a:xfrm>
          <a:prstGeom prst="rect">
            <a:avLst/>
          </a:prstGeom>
          <a:noFill/>
          <a:ln/>
        </p:spPr>
        <p:txBody>
          <a:bodyPr wrap="square" rtlCol="0" anchor="ctr"/>
          <a:lstStyle/>
          <a:p>
            <a:pPr algn="ctr" indent="0" marL="0">
              <a:buNone/>
            </a:pPr>
            <a:r>
              <a:rPr lang="en-US" sz="1400" dirty="0">
                <a:solidFill>
                  <a:srgbClr val="1F3864"/>
                </a:solidFill>
              </a:rPr>
              <a:t>➜</a:t>
            </a:r>
            <a:endParaRPr lang="en-US" sz="1400" dirty="0"/>
          </a:p>
        </p:txBody>
      </p:sp>
      <p:sp>
        <p:nvSpPr>
          <p:cNvPr id="14" name="Shape 12"/>
          <p:cNvSpPr/>
          <p:nvPr/>
        </p:nvSpPr>
        <p:spPr>
          <a:xfrm>
            <a:off x="5029200" y="5760720"/>
            <a:ext cx="2011680" cy="502920"/>
          </a:xfrm>
          <a:prstGeom prst="rect">
            <a:avLst/>
          </a:prstGeom>
          <a:solidFill>
            <a:srgbClr val="2E75B6"/>
          </a:solidFill>
          <a:ln w="12700">
            <a:solidFill>
              <a:srgbClr val="FFFFFF"/>
            </a:solidFill>
            <a:prstDash val="solid"/>
          </a:ln>
        </p:spPr>
      </p:sp>
      <p:sp>
        <p:nvSpPr>
          <p:cNvPr id="15" name="Text 13"/>
          <p:cNvSpPr/>
          <p:nvPr/>
        </p:nvSpPr>
        <p:spPr>
          <a:xfrm>
            <a:off x="5029200" y="5760720"/>
            <a:ext cx="20116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Aeneas: translate to Lean</a:t>
            </a:r>
            <a:endParaRPr lang="en-US" sz="1100" dirty="0"/>
          </a:p>
        </p:txBody>
      </p:sp>
      <p:sp>
        <p:nvSpPr>
          <p:cNvPr id="16" name="Text 14"/>
          <p:cNvSpPr/>
          <p:nvPr/>
        </p:nvSpPr>
        <p:spPr>
          <a:xfrm>
            <a:off x="7040880" y="5760720"/>
            <a:ext cx="228600" cy="502920"/>
          </a:xfrm>
          <a:prstGeom prst="rect">
            <a:avLst/>
          </a:prstGeom>
          <a:noFill/>
          <a:ln/>
        </p:spPr>
        <p:txBody>
          <a:bodyPr wrap="square" rtlCol="0" anchor="ctr"/>
          <a:lstStyle/>
          <a:p>
            <a:pPr algn="ctr" indent="0" marL="0">
              <a:buNone/>
            </a:pPr>
            <a:r>
              <a:rPr lang="en-US" sz="1400" dirty="0">
                <a:solidFill>
                  <a:srgbClr val="1F3864"/>
                </a:solidFill>
              </a:rPr>
              <a:t>➜</a:t>
            </a:r>
            <a:endParaRPr lang="en-US" sz="1400" dirty="0"/>
          </a:p>
        </p:txBody>
      </p:sp>
      <p:sp>
        <p:nvSpPr>
          <p:cNvPr id="17" name="Shape 15"/>
          <p:cNvSpPr/>
          <p:nvPr/>
        </p:nvSpPr>
        <p:spPr>
          <a:xfrm>
            <a:off x="7269480" y="5760720"/>
            <a:ext cx="2011680" cy="502920"/>
          </a:xfrm>
          <a:prstGeom prst="rect">
            <a:avLst/>
          </a:prstGeom>
          <a:solidFill>
            <a:srgbClr val="2E75B6"/>
          </a:solidFill>
          <a:ln w="12700">
            <a:solidFill>
              <a:srgbClr val="FFFFFF"/>
            </a:solidFill>
            <a:prstDash val="solid"/>
          </a:ln>
        </p:spPr>
      </p:sp>
      <p:sp>
        <p:nvSpPr>
          <p:cNvPr id="18" name="Text 16"/>
          <p:cNvSpPr/>
          <p:nvPr/>
        </p:nvSpPr>
        <p:spPr>
          <a:xfrm>
            <a:off x="7269480" y="5760720"/>
            <a:ext cx="20116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 write the theorems</a:t>
            </a:r>
            <a:endParaRPr lang="en-US" sz="1100" dirty="0"/>
          </a:p>
        </p:txBody>
      </p:sp>
      <p:sp>
        <p:nvSpPr>
          <p:cNvPr id="19" name="Text 17"/>
          <p:cNvSpPr/>
          <p:nvPr/>
        </p:nvSpPr>
        <p:spPr>
          <a:xfrm>
            <a:off x="9281160" y="5760720"/>
            <a:ext cx="228600" cy="502920"/>
          </a:xfrm>
          <a:prstGeom prst="rect">
            <a:avLst/>
          </a:prstGeom>
          <a:noFill/>
          <a:ln/>
        </p:spPr>
        <p:txBody>
          <a:bodyPr wrap="square" rtlCol="0" anchor="ctr"/>
          <a:lstStyle/>
          <a:p>
            <a:pPr algn="ctr" indent="0" marL="0">
              <a:buNone/>
            </a:pPr>
            <a:r>
              <a:rPr lang="en-US" sz="1400" dirty="0">
                <a:solidFill>
                  <a:srgbClr val="1F3864"/>
                </a:solidFill>
              </a:rPr>
              <a:t>➜</a:t>
            </a:r>
            <a:endParaRPr lang="en-US" sz="1400" dirty="0"/>
          </a:p>
        </p:txBody>
      </p:sp>
      <p:sp>
        <p:nvSpPr>
          <p:cNvPr id="20" name="Shape 18"/>
          <p:cNvSpPr/>
          <p:nvPr/>
        </p:nvSpPr>
        <p:spPr>
          <a:xfrm>
            <a:off x="9509760" y="5760720"/>
            <a:ext cx="2011680" cy="502920"/>
          </a:xfrm>
          <a:prstGeom prst="rect">
            <a:avLst/>
          </a:prstGeom>
          <a:solidFill>
            <a:srgbClr val="548235"/>
          </a:solidFill>
          <a:ln w="12700">
            <a:solidFill>
              <a:srgbClr val="FFFFFF"/>
            </a:solidFill>
            <a:prstDash val="solid"/>
          </a:ln>
        </p:spPr>
      </p:sp>
      <p:sp>
        <p:nvSpPr>
          <p:cNvPr id="21" name="Text 19"/>
          <p:cNvSpPr/>
          <p:nvPr/>
        </p:nvSpPr>
        <p:spPr>
          <a:xfrm>
            <a:off x="9509760" y="5760720"/>
            <a:ext cx="20116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Lean checks the proofs ✓</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 · Results so far</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About half of the functions in the code base are proved correct. The hardest part, the math core, is 100 % done.</a:t>
            </a:r>
            <a:endParaRPr lang="en-US" sz="1400" dirty="0"/>
          </a:p>
        </p:txBody>
      </p:sp>
      <p:sp>
        <p:nvSpPr>
          <p:cNvPr id="4" name="Shape 2"/>
          <p:cNvSpPr/>
          <p:nvPr/>
        </p:nvSpPr>
        <p:spPr>
          <a:xfrm>
            <a:off x="548640" y="1371600"/>
            <a:ext cx="2103120" cy="960120"/>
          </a:xfrm>
          <a:prstGeom prst="rect">
            <a:avLst/>
          </a:prstGeom>
          <a:solidFill>
            <a:srgbClr val="F2F2F2"/>
          </a:solidFill>
          <a:ln w="19050">
            <a:solidFill>
              <a:srgbClr val="2E75B6"/>
            </a:solidFill>
            <a:prstDash val="solid"/>
          </a:ln>
        </p:spPr>
      </p:sp>
      <p:sp>
        <p:nvSpPr>
          <p:cNvPr id="5" name="Text 3"/>
          <p:cNvSpPr/>
          <p:nvPr/>
        </p:nvSpPr>
        <p:spPr>
          <a:xfrm>
            <a:off x="548640" y="1417320"/>
            <a:ext cx="2103120" cy="502920"/>
          </a:xfrm>
          <a:prstGeom prst="rect">
            <a:avLst/>
          </a:prstGeom>
          <a:noFill/>
          <a:ln/>
        </p:spPr>
        <p:txBody>
          <a:bodyPr wrap="square" rtlCol="0" anchor="ctr"/>
          <a:lstStyle/>
          <a:p>
            <a:pPr algn="ctr" indent="0" marL="0">
              <a:buNone/>
            </a:pPr>
            <a:r>
              <a:rPr lang="en-US" sz="2400" b="1" dirty="0">
                <a:solidFill>
                  <a:srgbClr val="2E75B6"/>
                </a:solidFill>
                <a:latin typeface="Calibri" pitchFamily="34" charset="0"/>
                <a:ea typeface="Calibri" pitchFamily="34" charset="-122"/>
                <a:cs typeface="Calibri" pitchFamily="34" charset="-120"/>
              </a:rPr>
              <a:t>312</a:t>
            </a:r>
            <a:endParaRPr lang="en-US" sz="2400" dirty="0"/>
          </a:p>
        </p:txBody>
      </p:sp>
      <p:sp>
        <p:nvSpPr>
          <p:cNvPr id="6" name="Text 4"/>
          <p:cNvSpPr/>
          <p:nvPr/>
        </p:nvSpPr>
        <p:spPr>
          <a:xfrm>
            <a:off x="548640" y="1901952"/>
            <a:ext cx="2103120" cy="411480"/>
          </a:xfrm>
          <a:prstGeom prst="rect">
            <a:avLst/>
          </a:prstGeom>
          <a:noFill/>
          <a:ln/>
        </p:spPr>
        <p:txBody>
          <a:bodyPr wrap="square"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Rust functions to verify</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(tests not counted)</a:t>
            </a:r>
            <a:endParaRPr lang="en-US" sz="1100" dirty="0"/>
          </a:p>
        </p:txBody>
      </p:sp>
      <p:sp>
        <p:nvSpPr>
          <p:cNvPr id="7" name="Shape 5"/>
          <p:cNvSpPr/>
          <p:nvPr/>
        </p:nvSpPr>
        <p:spPr>
          <a:xfrm>
            <a:off x="2788920" y="1371600"/>
            <a:ext cx="2103120" cy="960120"/>
          </a:xfrm>
          <a:prstGeom prst="rect">
            <a:avLst/>
          </a:prstGeom>
          <a:solidFill>
            <a:srgbClr val="F2F2F2"/>
          </a:solidFill>
          <a:ln w="19050">
            <a:solidFill>
              <a:srgbClr val="2E75B6"/>
            </a:solidFill>
            <a:prstDash val="solid"/>
          </a:ln>
        </p:spPr>
      </p:sp>
      <p:sp>
        <p:nvSpPr>
          <p:cNvPr id="8" name="Text 6"/>
          <p:cNvSpPr/>
          <p:nvPr/>
        </p:nvSpPr>
        <p:spPr>
          <a:xfrm>
            <a:off x="2788920" y="1417320"/>
            <a:ext cx="2103120" cy="502920"/>
          </a:xfrm>
          <a:prstGeom prst="rect">
            <a:avLst/>
          </a:prstGeom>
          <a:noFill/>
          <a:ln/>
        </p:spPr>
        <p:txBody>
          <a:bodyPr wrap="square" rtlCol="0" anchor="ctr"/>
          <a:lstStyle/>
          <a:p>
            <a:pPr algn="ctr" indent="0" marL="0">
              <a:buNone/>
            </a:pPr>
            <a:r>
              <a:rPr lang="en-US" sz="2400" b="1" dirty="0">
                <a:solidFill>
                  <a:srgbClr val="2E75B6"/>
                </a:solidFill>
                <a:latin typeface="Calibri" pitchFamily="34" charset="0"/>
                <a:ea typeface="Calibri" pitchFamily="34" charset="-122"/>
                <a:cs typeface="Calibri" pitchFamily="34" charset="-120"/>
              </a:rPr>
              <a:t>147</a:t>
            </a:r>
            <a:endParaRPr lang="en-US" sz="2400" dirty="0"/>
          </a:p>
        </p:txBody>
      </p:sp>
      <p:sp>
        <p:nvSpPr>
          <p:cNvPr id="9" name="Text 7"/>
          <p:cNvSpPr/>
          <p:nvPr/>
        </p:nvSpPr>
        <p:spPr>
          <a:xfrm>
            <a:off x="2788920" y="1901952"/>
            <a:ext cx="2103120" cy="411480"/>
          </a:xfrm>
          <a:prstGeom prst="rect">
            <a:avLst/>
          </a:prstGeom>
          <a:noFill/>
          <a:ln/>
        </p:spPr>
        <p:txBody>
          <a:bodyPr wrap="square"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have a theorem</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(47 %)</a:t>
            </a:r>
            <a:endParaRPr lang="en-US" sz="1100" dirty="0"/>
          </a:p>
        </p:txBody>
      </p:sp>
      <p:sp>
        <p:nvSpPr>
          <p:cNvPr id="10" name="Shape 8"/>
          <p:cNvSpPr/>
          <p:nvPr/>
        </p:nvSpPr>
        <p:spPr>
          <a:xfrm>
            <a:off x="5029200" y="1371600"/>
            <a:ext cx="2103120" cy="960120"/>
          </a:xfrm>
          <a:prstGeom prst="rect">
            <a:avLst/>
          </a:prstGeom>
          <a:solidFill>
            <a:srgbClr val="F2F2F2"/>
          </a:solidFill>
          <a:ln w="19050">
            <a:solidFill>
              <a:srgbClr val="548235"/>
            </a:solidFill>
            <a:prstDash val="solid"/>
          </a:ln>
        </p:spPr>
      </p:sp>
      <p:sp>
        <p:nvSpPr>
          <p:cNvPr id="11" name="Text 9"/>
          <p:cNvSpPr/>
          <p:nvPr/>
        </p:nvSpPr>
        <p:spPr>
          <a:xfrm>
            <a:off x="5029200" y="1417320"/>
            <a:ext cx="2103120" cy="502920"/>
          </a:xfrm>
          <a:prstGeom prst="rect">
            <a:avLst/>
          </a:prstGeom>
          <a:noFill/>
          <a:ln/>
        </p:spPr>
        <p:txBody>
          <a:bodyPr wrap="square" rtlCol="0" anchor="ctr"/>
          <a:lstStyle/>
          <a:p>
            <a:pPr algn="ctr" indent="0" marL="0">
              <a:buNone/>
            </a:pPr>
            <a:r>
              <a:rPr lang="en-US" sz="2400" b="1" dirty="0">
                <a:solidFill>
                  <a:srgbClr val="548235"/>
                </a:solidFill>
                <a:latin typeface="Calibri" pitchFamily="34" charset="0"/>
                <a:ea typeface="Calibri" pitchFamily="34" charset="-122"/>
                <a:cs typeface="Calibri" pitchFamily="34" charset="-120"/>
              </a:rPr>
              <a:t>146 / 147</a:t>
            </a:r>
            <a:endParaRPr lang="en-US" sz="2400" dirty="0"/>
          </a:p>
        </p:txBody>
      </p:sp>
      <p:sp>
        <p:nvSpPr>
          <p:cNvPr id="12" name="Text 10"/>
          <p:cNvSpPr/>
          <p:nvPr/>
        </p:nvSpPr>
        <p:spPr>
          <a:xfrm>
            <a:off x="5029200" y="1901952"/>
            <a:ext cx="2103120" cy="411480"/>
          </a:xfrm>
          <a:prstGeom prst="rect">
            <a:avLst/>
          </a:prstGeom>
          <a:noFill/>
          <a:ln/>
        </p:spPr>
        <p:txBody>
          <a:bodyPr wrap="square"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theorems fully proved</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(no gaps)</a:t>
            </a:r>
            <a:endParaRPr lang="en-US" sz="1100" dirty="0"/>
          </a:p>
        </p:txBody>
      </p:sp>
      <p:sp>
        <p:nvSpPr>
          <p:cNvPr id="13" name="Shape 11"/>
          <p:cNvSpPr/>
          <p:nvPr/>
        </p:nvSpPr>
        <p:spPr>
          <a:xfrm>
            <a:off x="7269480" y="1371600"/>
            <a:ext cx="2103120" cy="960120"/>
          </a:xfrm>
          <a:prstGeom prst="rect">
            <a:avLst/>
          </a:prstGeom>
          <a:solidFill>
            <a:srgbClr val="F2F2F2"/>
          </a:solidFill>
          <a:ln w="19050">
            <a:solidFill>
              <a:srgbClr val="2E75B6"/>
            </a:solidFill>
            <a:prstDash val="solid"/>
          </a:ln>
        </p:spPr>
      </p:sp>
      <p:sp>
        <p:nvSpPr>
          <p:cNvPr id="14" name="Text 12"/>
          <p:cNvSpPr/>
          <p:nvPr/>
        </p:nvSpPr>
        <p:spPr>
          <a:xfrm>
            <a:off x="7269480" y="1417320"/>
            <a:ext cx="2103120" cy="502920"/>
          </a:xfrm>
          <a:prstGeom prst="rect">
            <a:avLst/>
          </a:prstGeom>
          <a:noFill/>
          <a:ln/>
        </p:spPr>
        <p:txBody>
          <a:bodyPr wrap="square" rtlCol="0" anchor="ctr"/>
          <a:lstStyle/>
          <a:p>
            <a:pPr algn="ctr" indent="0" marL="0">
              <a:buNone/>
            </a:pPr>
            <a:r>
              <a:rPr lang="en-US" sz="2400" b="1" dirty="0">
                <a:solidFill>
                  <a:srgbClr val="2E75B6"/>
                </a:solidFill>
                <a:latin typeface="Calibri" pitchFamily="34" charset="0"/>
                <a:ea typeface="Calibri" pitchFamily="34" charset="-122"/>
                <a:cs typeface="Calibri" pitchFamily="34" charset="-120"/>
              </a:rPr>
              <a:t>≈ 555</a:t>
            </a:r>
            <a:endParaRPr lang="en-US" sz="2400" dirty="0"/>
          </a:p>
        </p:txBody>
      </p:sp>
      <p:sp>
        <p:nvSpPr>
          <p:cNvPr id="15" name="Text 13"/>
          <p:cNvSpPr/>
          <p:nvPr/>
        </p:nvSpPr>
        <p:spPr>
          <a:xfrm>
            <a:off x="7269480" y="1901952"/>
            <a:ext cx="2103120" cy="411480"/>
          </a:xfrm>
          <a:prstGeom prst="rect">
            <a:avLst/>
          </a:prstGeom>
          <a:noFill/>
          <a:ln/>
        </p:spPr>
        <p:txBody>
          <a:bodyPr wrap="square"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Lean theorems and</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helper lemmas written</a:t>
            </a:r>
            <a:endParaRPr lang="en-US" sz="1100" dirty="0"/>
          </a:p>
        </p:txBody>
      </p:sp>
      <p:sp>
        <p:nvSpPr>
          <p:cNvPr id="16" name="Shape 14"/>
          <p:cNvSpPr/>
          <p:nvPr/>
        </p:nvSpPr>
        <p:spPr>
          <a:xfrm>
            <a:off x="9509760" y="1371600"/>
            <a:ext cx="2103120" cy="960120"/>
          </a:xfrm>
          <a:prstGeom prst="rect">
            <a:avLst/>
          </a:prstGeom>
          <a:solidFill>
            <a:srgbClr val="F2F2F2"/>
          </a:solidFill>
          <a:ln w="19050">
            <a:solidFill>
              <a:srgbClr val="BF9000"/>
            </a:solidFill>
            <a:prstDash val="solid"/>
          </a:ln>
        </p:spPr>
      </p:sp>
      <p:sp>
        <p:nvSpPr>
          <p:cNvPr id="17" name="Text 15"/>
          <p:cNvSpPr/>
          <p:nvPr/>
        </p:nvSpPr>
        <p:spPr>
          <a:xfrm>
            <a:off x="9509760" y="1417320"/>
            <a:ext cx="2103120" cy="502920"/>
          </a:xfrm>
          <a:prstGeom prst="rect">
            <a:avLst/>
          </a:prstGeom>
          <a:noFill/>
          <a:ln/>
        </p:spPr>
        <p:txBody>
          <a:bodyPr wrap="square" rtlCol="0" anchor="ctr"/>
          <a:lstStyle/>
          <a:p>
            <a:pPr algn="ctr" indent="0" marL="0">
              <a:buNone/>
            </a:pPr>
            <a:r>
              <a:rPr lang="en-US" sz="2400" b="1" dirty="0">
                <a:solidFill>
                  <a:srgbClr val="BF9000"/>
                </a:solidFill>
                <a:latin typeface="Calibri" pitchFamily="34" charset="0"/>
                <a:ea typeface="Calibri" pitchFamily="34" charset="-122"/>
                <a:cs typeface="Calibri" pitchFamily="34" charset="-120"/>
              </a:rPr>
              <a:t>1</a:t>
            </a:r>
            <a:endParaRPr lang="en-US" sz="2400" dirty="0"/>
          </a:p>
        </p:txBody>
      </p:sp>
      <p:sp>
        <p:nvSpPr>
          <p:cNvPr id="18" name="Text 16"/>
          <p:cNvSpPr/>
          <p:nvPr/>
        </p:nvSpPr>
        <p:spPr>
          <a:xfrm>
            <a:off x="9509760" y="1901952"/>
            <a:ext cx="2103120" cy="411480"/>
          </a:xfrm>
          <a:prstGeom prst="rect">
            <a:avLst/>
          </a:prstGeom>
          <a:noFill/>
          <a:ln/>
        </p:spPr>
        <p:txBody>
          <a:bodyPr wrap="square" rtlCol="0" anchor="ctr"/>
          <a:lstStyle/>
          <a:p>
            <a:pPr algn="ctr" indent="0" marL="0">
              <a:buNone/>
            </a:pPr>
            <a:r>
              <a:rPr lang="en-US" sz="1100" dirty="0">
                <a:solidFill>
                  <a:srgbClr val="595959"/>
                </a:solidFill>
                <a:latin typeface="Calibri" pitchFamily="34" charset="0"/>
                <a:ea typeface="Calibri" pitchFamily="34" charset="-122"/>
                <a:cs typeface="Calibri" pitchFamily="34" charset="-120"/>
              </a:rPr>
              <a:t>assumption we added</a:t>
            </a:r>
            <a:endParaRPr lang="en-US" sz="1100" dirty="0"/>
          </a:p>
          <a:p>
            <a:pPr algn="ctr" indent="0" marL="0">
              <a:buNone/>
            </a:pPr>
            <a:r>
              <a:rPr lang="en-US" sz="1100" dirty="0">
                <a:solidFill>
                  <a:srgbClr val="595959"/>
                </a:solidFill>
                <a:latin typeface="Calibri" pitchFamily="34" charset="0"/>
                <a:ea typeface="Calibri" pitchFamily="34" charset="-122"/>
                <a:cs typeface="Calibri" pitchFamily="34" charset="-120"/>
              </a:rPr>
              <a:t>(the HKDF spec)</a:t>
            </a:r>
            <a:endParaRPr lang="en-US" sz="1100" dirty="0"/>
          </a:p>
        </p:txBody>
      </p:sp>
      <p:sp>
        <p:nvSpPr>
          <p:cNvPr id="19" name="Text 17"/>
          <p:cNvSpPr/>
          <p:nvPr/>
        </p:nvSpPr>
        <p:spPr>
          <a:xfrm>
            <a:off x="548640" y="2514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Rust side — what is covered</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5852160" cy="914400"/>
        </p:xfrm>
        <a:graphic>
          <a:graphicData uri="http://schemas.openxmlformats.org/drawingml/2006/table">
            <a:tbl>
              <a:tblPr/>
              <a:tblGrid>
                <a:gridCol w="2926080"/>
                <a:gridCol w="29260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Numbers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Ordinary functions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218 in total, 102 have a theorem (47 %)</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Loop bodies (the translator turns each loop into its own function)</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94 in total, 45 have a theorem</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The one theorem still with a gap</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decode_state — it calls generated protobuf code we cannot translate yet</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Not started yet</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165 functions: the v1 state machines, Chain::*, generated protobuf code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Files 100 % done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gf.rs 13/13 · polynomial.rs 32/32 · authenticator 8/8 · kdf · util · unchunked serialize 18/18</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Files in progress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chain.rs 11/25 · lib.rs 7/16 · chunked states/serialize 7/9 · mlkem768 2/6</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bl>
          </a:graphicData>
        </a:graphic>
      </p:graphicFrame>
      <p:sp>
        <p:nvSpPr>
          <p:cNvPr id="21" name="Text 18"/>
          <p:cNvSpPr/>
          <p:nvPr/>
        </p:nvSpPr>
        <p:spPr>
          <a:xfrm>
            <a:off x="6400800" y="2514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Lean side — what we wrote</a:t>
            </a:r>
            <a:endParaRPr lang="en-US" sz="14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400800" y="2834640"/>
          <a:ext cx="5303520" cy="914400"/>
        </p:xfrm>
        <a:graphic>
          <a:graphicData uri="http://schemas.openxmlformats.org/drawingml/2006/table">
            <a:tbl>
              <a:tblPr/>
              <a:tblGrid>
                <a:gridCol w="2834640"/>
                <a:gridCol w="24688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Numbers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Theorem files / main theorems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188 files / 312 theorems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Small helper lemmas next to the theorems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107</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Shared math library (Spqr/Math)</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32 files · 110 lemmas · 21 definitions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Helpers for the translator's model and crypto</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18 lemmas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Assumptions about external crates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 40 (libcrux, prost, bytes, core::fmt)</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Standard Lean axioms used</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propext · Quot.sound · Classical.choice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Theorems that indirectly touch a gap</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9 (all via translated generated code)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Longest proof file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Gc.lean — 962 lines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bl>
          </a:graphicData>
        </a:graphic>
      </p:graphicFrame>
      <p:sp>
        <p:nvSpPr>
          <p:cNvPr id="23" name="Text 19"/>
          <p:cNvSpPr/>
          <p:nvPr/>
        </p:nvSpPr>
        <p:spPr>
          <a:xfrm>
            <a:off x="548640" y="5897880"/>
            <a:ext cx="11064240" cy="50292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"Proved" means: a theorem about the real translated code, checked by the Lean kernel — not about a simplified model. What is left is mostly the protocol state machines and the top-level send / recv functions.</a:t>
            </a:r>
            <a:endParaRPr lang="en-US" sz="12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3 · Verified Rust functions over time (per ISO week)</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Progress is steady and speeding up: 8 proved functions in mid-April, 147 in early September.</a:t>
            </a:r>
            <a:endParaRPr lang="en-US" sz="1400" dirty="0"/>
          </a:p>
        </p:txBody>
      </p:sp>
      <p:sp>
        <p:nvSpPr>
          <p:cNvPr id="4" name="Shape 2"/>
          <p:cNvSpPr/>
          <p:nvPr/>
        </p:nvSpPr>
        <p:spPr>
          <a:xfrm>
            <a:off x="1051560" y="1508760"/>
            <a:ext cx="6446520" cy="3840480"/>
          </a:xfrm>
          <a:prstGeom prst="rect">
            <a:avLst/>
          </a:prstGeom>
          <a:solidFill>
            <a:srgbClr val="FFFFFF"/>
          </a:solidFill>
          <a:ln w="9525">
            <a:solidFill>
              <a:srgbClr val="BFBFBF"/>
            </a:solidFill>
            <a:prstDash val="solid"/>
          </a:ln>
        </p:spPr>
      </p:sp>
      <p:sp>
        <p:nvSpPr>
          <p:cNvPr id="5" name="Text 3"/>
          <p:cNvSpPr/>
          <p:nvPr/>
        </p:nvSpPr>
        <p:spPr>
          <a:xfrm>
            <a:off x="548640" y="5239512"/>
            <a:ext cx="457200" cy="219456"/>
          </a:xfrm>
          <a:prstGeom prst="rect">
            <a:avLst/>
          </a:prstGeom>
          <a:noFill/>
          <a:ln/>
        </p:spPr>
        <p:txBody>
          <a:bodyPr wrap="square" rtlCol="0" anchor="ctr"/>
          <a:lstStyle/>
          <a:p>
            <a:pPr algn="r" indent="0" marL="0">
              <a:buNone/>
            </a:pPr>
            <a:r>
              <a:rPr lang="en-US" sz="900" dirty="0">
                <a:solidFill>
                  <a:srgbClr val="2E75B6"/>
                </a:solidFill>
                <a:latin typeface="Calibri" pitchFamily="34" charset="0"/>
                <a:ea typeface="Calibri" pitchFamily="34" charset="-122"/>
                <a:cs typeface="Calibri" pitchFamily="34" charset="-120"/>
              </a:rPr>
              <a:t>0</a:t>
            </a:r>
            <a:endParaRPr lang="en-US" sz="900" dirty="0"/>
          </a:p>
        </p:txBody>
      </p:sp>
      <p:sp>
        <p:nvSpPr>
          <p:cNvPr id="6" name="Text 4"/>
          <p:cNvSpPr/>
          <p:nvPr/>
        </p:nvSpPr>
        <p:spPr>
          <a:xfrm>
            <a:off x="7543800" y="5239512"/>
            <a:ext cx="502920" cy="219456"/>
          </a:xfrm>
          <a:prstGeom prst="rect">
            <a:avLst/>
          </a:prstGeom>
          <a:noFill/>
          <a:ln/>
        </p:spPr>
        <p:txBody>
          <a:bodyPr wrap="square" rtlCol="0" anchor="ctr"/>
          <a:lstStyle/>
          <a:p>
            <a:pPr algn="l" indent="0" marL="0">
              <a:buNone/>
            </a:pPr>
            <a:r>
              <a:rPr lang="en-US" sz="900" dirty="0">
                <a:solidFill>
                  <a:srgbClr val="1F3864"/>
                </a:solidFill>
                <a:latin typeface="Calibri" pitchFamily="34" charset="0"/>
                <a:ea typeface="Calibri" pitchFamily="34" charset="-122"/>
                <a:cs typeface="Calibri" pitchFamily="34" charset="-120"/>
              </a:rPr>
              <a:t>0</a:t>
            </a:r>
            <a:endParaRPr lang="en-US" sz="900" dirty="0"/>
          </a:p>
        </p:txBody>
      </p:sp>
      <p:sp>
        <p:nvSpPr>
          <p:cNvPr id="7" name="Shape 5"/>
          <p:cNvSpPr/>
          <p:nvPr/>
        </p:nvSpPr>
        <p:spPr>
          <a:xfrm>
            <a:off x="1051560" y="4389120"/>
            <a:ext cx="6446520" cy="0"/>
          </a:xfrm>
          <a:prstGeom prst="line">
            <a:avLst/>
          </a:prstGeom>
          <a:noFill/>
          <a:ln w="6350">
            <a:solidFill>
              <a:srgbClr val="E0E0E0"/>
            </a:solidFill>
            <a:prstDash val="solid"/>
          </a:ln>
        </p:spPr>
      </p:sp>
      <p:sp>
        <p:nvSpPr>
          <p:cNvPr id="8" name="Text 6"/>
          <p:cNvSpPr/>
          <p:nvPr/>
        </p:nvSpPr>
        <p:spPr>
          <a:xfrm>
            <a:off x="548640" y="4279392"/>
            <a:ext cx="457200" cy="219456"/>
          </a:xfrm>
          <a:prstGeom prst="rect">
            <a:avLst/>
          </a:prstGeom>
          <a:noFill/>
          <a:ln/>
        </p:spPr>
        <p:txBody>
          <a:bodyPr wrap="square" rtlCol="0" anchor="ctr"/>
          <a:lstStyle/>
          <a:p>
            <a:pPr algn="r" indent="0" marL="0">
              <a:buNone/>
            </a:pPr>
            <a:r>
              <a:rPr lang="en-US" sz="900" dirty="0">
                <a:solidFill>
                  <a:srgbClr val="2E75B6"/>
                </a:solidFill>
                <a:latin typeface="Calibri" pitchFamily="34" charset="0"/>
                <a:ea typeface="Calibri" pitchFamily="34" charset="-122"/>
                <a:cs typeface="Calibri" pitchFamily="34" charset="-120"/>
              </a:rPr>
              <a:t>10</a:t>
            </a:r>
            <a:endParaRPr lang="en-US" sz="900" dirty="0"/>
          </a:p>
        </p:txBody>
      </p:sp>
      <p:sp>
        <p:nvSpPr>
          <p:cNvPr id="9" name="Text 7"/>
          <p:cNvSpPr/>
          <p:nvPr/>
        </p:nvSpPr>
        <p:spPr>
          <a:xfrm>
            <a:off x="7543800" y="4279392"/>
            <a:ext cx="502920" cy="219456"/>
          </a:xfrm>
          <a:prstGeom prst="rect">
            <a:avLst/>
          </a:prstGeom>
          <a:noFill/>
          <a:ln/>
        </p:spPr>
        <p:txBody>
          <a:bodyPr wrap="square" rtlCol="0" anchor="ctr"/>
          <a:lstStyle/>
          <a:p>
            <a:pPr algn="l" indent="0" marL="0">
              <a:buNone/>
            </a:pPr>
            <a:r>
              <a:rPr lang="en-US" sz="900" dirty="0">
                <a:solidFill>
                  <a:srgbClr val="1F3864"/>
                </a:solidFill>
                <a:latin typeface="Calibri" pitchFamily="34" charset="0"/>
                <a:ea typeface="Calibri" pitchFamily="34" charset="-122"/>
                <a:cs typeface="Calibri" pitchFamily="34" charset="-120"/>
              </a:rPr>
              <a:t>40</a:t>
            </a:r>
            <a:endParaRPr lang="en-US" sz="900" dirty="0"/>
          </a:p>
        </p:txBody>
      </p:sp>
      <p:sp>
        <p:nvSpPr>
          <p:cNvPr id="10" name="Shape 8"/>
          <p:cNvSpPr/>
          <p:nvPr/>
        </p:nvSpPr>
        <p:spPr>
          <a:xfrm>
            <a:off x="1051560" y="3429000"/>
            <a:ext cx="6446520" cy="0"/>
          </a:xfrm>
          <a:prstGeom prst="line">
            <a:avLst/>
          </a:prstGeom>
          <a:noFill/>
          <a:ln w="6350">
            <a:solidFill>
              <a:srgbClr val="E0E0E0"/>
            </a:solidFill>
            <a:prstDash val="solid"/>
          </a:ln>
        </p:spPr>
      </p:sp>
      <p:sp>
        <p:nvSpPr>
          <p:cNvPr id="11" name="Text 9"/>
          <p:cNvSpPr/>
          <p:nvPr/>
        </p:nvSpPr>
        <p:spPr>
          <a:xfrm>
            <a:off x="548640" y="3319272"/>
            <a:ext cx="457200" cy="219456"/>
          </a:xfrm>
          <a:prstGeom prst="rect">
            <a:avLst/>
          </a:prstGeom>
          <a:noFill/>
          <a:ln/>
        </p:spPr>
        <p:txBody>
          <a:bodyPr wrap="square" rtlCol="0" anchor="ctr"/>
          <a:lstStyle/>
          <a:p>
            <a:pPr algn="r" indent="0" marL="0">
              <a:buNone/>
            </a:pPr>
            <a:r>
              <a:rPr lang="en-US" sz="900" dirty="0">
                <a:solidFill>
                  <a:srgbClr val="2E75B6"/>
                </a:solidFill>
                <a:latin typeface="Calibri" pitchFamily="34" charset="0"/>
                <a:ea typeface="Calibri" pitchFamily="34" charset="-122"/>
                <a:cs typeface="Calibri" pitchFamily="34" charset="-120"/>
              </a:rPr>
              <a:t>20</a:t>
            </a:r>
            <a:endParaRPr lang="en-US" sz="900" dirty="0"/>
          </a:p>
        </p:txBody>
      </p:sp>
      <p:sp>
        <p:nvSpPr>
          <p:cNvPr id="12" name="Text 10"/>
          <p:cNvSpPr/>
          <p:nvPr/>
        </p:nvSpPr>
        <p:spPr>
          <a:xfrm>
            <a:off x="7543800" y="3319272"/>
            <a:ext cx="502920" cy="219456"/>
          </a:xfrm>
          <a:prstGeom prst="rect">
            <a:avLst/>
          </a:prstGeom>
          <a:noFill/>
          <a:ln/>
        </p:spPr>
        <p:txBody>
          <a:bodyPr wrap="square" rtlCol="0" anchor="ctr"/>
          <a:lstStyle/>
          <a:p>
            <a:pPr algn="l" indent="0" marL="0">
              <a:buNone/>
            </a:pPr>
            <a:r>
              <a:rPr lang="en-US" sz="900" dirty="0">
                <a:solidFill>
                  <a:srgbClr val="1F3864"/>
                </a:solidFill>
                <a:latin typeface="Calibri" pitchFamily="34" charset="0"/>
                <a:ea typeface="Calibri" pitchFamily="34" charset="-122"/>
                <a:cs typeface="Calibri" pitchFamily="34" charset="-120"/>
              </a:rPr>
              <a:t>80</a:t>
            </a:r>
            <a:endParaRPr lang="en-US" sz="900" dirty="0"/>
          </a:p>
        </p:txBody>
      </p:sp>
      <p:sp>
        <p:nvSpPr>
          <p:cNvPr id="13" name="Shape 11"/>
          <p:cNvSpPr/>
          <p:nvPr/>
        </p:nvSpPr>
        <p:spPr>
          <a:xfrm>
            <a:off x="1051560" y="2468880"/>
            <a:ext cx="6446520" cy="0"/>
          </a:xfrm>
          <a:prstGeom prst="line">
            <a:avLst/>
          </a:prstGeom>
          <a:noFill/>
          <a:ln w="6350">
            <a:solidFill>
              <a:srgbClr val="E0E0E0"/>
            </a:solidFill>
            <a:prstDash val="solid"/>
          </a:ln>
        </p:spPr>
      </p:sp>
      <p:sp>
        <p:nvSpPr>
          <p:cNvPr id="14" name="Text 12"/>
          <p:cNvSpPr/>
          <p:nvPr/>
        </p:nvSpPr>
        <p:spPr>
          <a:xfrm>
            <a:off x="548640" y="2359152"/>
            <a:ext cx="457200" cy="219456"/>
          </a:xfrm>
          <a:prstGeom prst="rect">
            <a:avLst/>
          </a:prstGeom>
          <a:noFill/>
          <a:ln/>
        </p:spPr>
        <p:txBody>
          <a:bodyPr wrap="square" rtlCol="0" anchor="ctr"/>
          <a:lstStyle/>
          <a:p>
            <a:pPr algn="r" indent="0" marL="0">
              <a:buNone/>
            </a:pPr>
            <a:r>
              <a:rPr lang="en-US" sz="900" dirty="0">
                <a:solidFill>
                  <a:srgbClr val="2E75B6"/>
                </a:solidFill>
                <a:latin typeface="Calibri" pitchFamily="34" charset="0"/>
                <a:ea typeface="Calibri" pitchFamily="34" charset="-122"/>
                <a:cs typeface="Calibri" pitchFamily="34" charset="-120"/>
              </a:rPr>
              <a:t>30</a:t>
            </a:r>
            <a:endParaRPr lang="en-US" sz="900" dirty="0"/>
          </a:p>
        </p:txBody>
      </p:sp>
      <p:sp>
        <p:nvSpPr>
          <p:cNvPr id="15" name="Text 13"/>
          <p:cNvSpPr/>
          <p:nvPr/>
        </p:nvSpPr>
        <p:spPr>
          <a:xfrm>
            <a:off x="7543800" y="2359152"/>
            <a:ext cx="502920" cy="219456"/>
          </a:xfrm>
          <a:prstGeom prst="rect">
            <a:avLst/>
          </a:prstGeom>
          <a:noFill/>
          <a:ln/>
        </p:spPr>
        <p:txBody>
          <a:bodyPr wrap="square" rtlCol="0" anchor="ctr"/>
          <a:lstStyle/>
          <a:p>
            <a:pPr algn="l" indent="0" marL="0">
              <a:buNone/>
            </a:pPr>
            <a:r>
              <a:rPr lang="en-US" sz="900" dirty="0">
                <a:solidFill>
                  <a:srgbClr val="1F3864"/>
                </a:solidFill>
                <a:latin typeface="Calibri" pitchFamily="34" charset="0"/>
                <a:ea typeface="Calibri" pitchFamily="34" charset="-122"/>
                <a:cs typeface="Calibri" pitchFamily="34" charset="-120"/>
              </a:rPr>
              <a:t>120</a:t>
            </a:r>
            <a:endParaRPr lang="en-US" sz="900" dirty="0"/>
          </a:p>
        </p:txBody>
      </p:sp>
      <p:sp>
        <p:nvSpPr>
          <p:cNvPr id="16" name="Shape 14"/>
          <p:cNvSpPr/>
          <p:nvPr/>
        </p:nvSpPr>
        <p:spPr>
          <a:xfrm>
            <a:off x="1051560" y="1508760"/>
            <a:ext cx="6446520" cy="0"/>
          </a:xfrm>
          <a:prstGeom prst="line">
            <a:avLst/>
          </a:prstGeom>
          <a:noFill/>
          <a:ln w="6350">
            <a:solidFill>
              <a:srgbClr val="E0E0E0"/>
            </a:solidFill>
            <a:prstDash val="solid"/>
          </a:ln>
        </p:spPr>
      </p:sp>
      <p:sp>
        <p:nvSpPr>
          <p:cNvPr id="17" name="Text 15"/>
          <p:cNvSpPr/>
          <p:nvPr/>
        </p:nvSpPr>
        <p:spPr>
          <a:xfrm>
            <a:off x="548640" y="1399032"/>
            <a:ext cx="457200" cy="219456"/>
          </a:xfrm>
          <a:prstGeom prst="rect">
            <a:avLst/>
          </a:prstGeom>
          <a:noFill/>
          <a:ln/>
        </p:spPr>
        <p:txBody>
          <a:bodyPr wrap="square" rtlCol="0" anchor="ctr"/>
          <a:lstStyle/>
          <a:p>
            <a:pPr algn="r" indent="0" marL="0">
              <a:buNone/>
            </a:pPr>
            <a:r>
              <a:rPr lang="en-US" sz="900" dirty="0">
                <a:solidFill>
                  <a:srgbClr val="2E75B6"/>
                </a:solidFill>
                <a:latin typeface="Calibri" pitchFamily="34" charset="0"/>
                <a:ea typeface="Calibri" pitchFamily="34" charset="-122"/>
                <a:cs typeface="Calibri" pitchFamily="34" charset="-120"/>
              </a:rPr>
              <a:t>40</a:t>
            </a:r>
            <a:endParaRPr lang="en-US" sz="900" dirty="0"/>
          </a:p>
        </p:txBody>
      </p:sp>
      <p:sp>
        <p:nvSpPr>
          <p:cNvPr id="18" name="Text 16"/>
          <p:cNvSpPr/>
          <p:nvPr/>
        </p:nvSpPr>
        <p:spPr>
          <a:xfrm>
            <a:off x="7543800" y="1399032"/>
            <a:ext cx="502920" cy="219456"/>
          </a:xfrm>
          <a:prstGeom prst="rect">
            <a:avLst/>
          </a:prstGeom>
          <a:noFill/>
          <a:ln/>
        </p:spPr>
        <p:txBody>
          <a:bodyPr wrap="square" rtlCol="0" anchor="ctr"/>
          <a:lstStyle/>
          <a:p>
            <a:pPr algn="l" indent="0" marL="0">
              <a:buNone/>
            </a:pPr>
            <a:r>
              <a:rPr lang="en-US" sz="900" dirty="0">
                <a:solidFill>
                  <a:srgbClr val="1F3864"/>
                </a:solidFill>
                <a:latin typeface="Calibri" pitchFamily="34" charset="0"/>
                <a:ea typeface="Calibri" pitchFamily="34" charset="-122"/>
                <a:cs typeface="Calibri" pitchFamily="34" charset="-120"/>
              </a:rPr>
              <a:t>160</a:t>
            </a:r>
            <a:endParaRPr lang="en-US" sz="900" dirty="0"/>
          </a:p>
        </p:txBody>
      </p:sp>
      <p:sp>
        <p:nvSpPr>
          <p:cNvPr id="19" name="Shape 17"/>
          <p:cNvSpPr/>
          <p:nvPr/>
        </p:nvSpPr>
        <p:spPr>
          <a:xfrm>
            <a:off x="1069979" y="4581144"/>
            <a:ext cx="153489" cy="768096"/>
          </a:xfrm>
          <a:prstGeom prst="rect">
            <a:avLst/>
          </a:prstGeom>
          <a:solidFill>
            <a:srgbClr val="2E75B6"/>
          </a:solidFill>
          <a:ln w="12700">
            <a:solidFill>
              <a:srgbClr val="2E75B6"/>
            </a:solidFill>
            <a:prstDash val="solid"/>
          </a:ln>
        </p:spPr>
      </p:sp>
      <p:sp>
        <p:nvSpPr>
          <p:cNvPr id="20" name="Text 18"/>
          <p:cNvSpPr/>
          <p:nvPr/>
        </p:nvSpPr>
        <p:spPr>
          <a:xfrm>
            <a:off x="1024259"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p>
        </p:txBody>
      </p:sp>
      <p:sp>
        <p:nvSpPr>
          <p:cNvPr id="21" name="Shape 19"/>
          <p:cNvSpPr/>
          <p:nvPr/>
        </p:nvSpPr>
        <p:spPr>
          <a:xfrm>
            <a:off x="2297887" y="5157216"/>
            <a:ext cx="153489" cy="192024"/>
          </a:xfrm>
          <a:prstGeom prst="rect">
            <a:avLst/>
          </a:prstGeom>
          <a:solidFill>
            <a:srgbClr val="2E75B6"/>
          </a:solidFill>
          <a:ln w="12700">
            <a:solidFill>
              <a:srgbClr val="2E75B6"/>
            </a:solidFill>
            <a:prstDash val="solid"/>
          </a:ln>
        </p:spPr>
      </p:sp>
      <p:sp>
        <p:nvSpPr>
          <p:cNvPr id="22" name="Text 20"/>
          <p:cNvSpPr/>
          <p:nvPr/>
        </p:nvSpPr>
        <p:spPr>
          <a:xfrm>
            <a:off x="2115007" y="4937760"/>
            <a:ext cx="519249" cy="201168"/>
          </a:xfrm>
          <a:prstGeom prst="rect">
            <a:avLst/>
          </a:prstGeom>
          <a:noFill/>
          <a:ln/>
        </p:spPr>
        <p:txBody>
          <a:bodyPr wrap="square" rtlCol="0" anchor="ctr"/>
          <a:lstStyle/>
          <a:p>
            <a:pPr algn="ctr" indent="0" marL="0">
              <a:buNone/>
            </a:pPr>
            <a:r>
              <a:rPr lang="en-US" sz="800" dirty="0">
                <a:solidFill>
                  <a:srgbClr val="2E75B6"/>
                </a:solidFill>
                <a:latin typeface="Calibri" pitchFamily="34" charset="0"/>
                <a:ea typeface="Calibri" pitchFamily="34" charset="-122"/>
                <a:cs typeface="Calibri" pitchFamily="34" charset="-120"/>
              </a:rPr>
              <a:t>2</a:t>
            </a:r>
            <a:endParaRPr lang="en-US" sz="800" dirty="0"/>
          </a:p>
        </p:txBody>
      </p:sp>
      <p:sp>
        <p:nvSpPr>
          <p:cNvPr id="23" name="Shape 21"/>
          <p:cNvSpPr/>
          <p:nvPr/>
        </p:nvSpPr>
        <p:spPr>
          <a:xfrm>
            <a:off x="2604864" y="4581144"/>
            <a:ext cx="153489" cy="768096"/>
          </a:xfrm>
          <a:prstGeom prst="rect">
            <a:avLst/>
          </a:prstGeom>
          <a:solidFill>
            <a:srgbClr val="2E75B6"/>
          </a:solidFill>
          <a:ln w="12700">
            <a:solidFill>
              <a:srgbClr val="2E75B6"/>
            </a:solidFill>
            <a:prstDash val="solid"/>
          </a:ln>
        </p:spPr>
      </p:sp>
      <p:sp>
        <p:nvSpPr>
          <p:cNvPr id="24" name="Text 22"/>
          <p:cNvSpPr/>
          <p:nvPr/>
        </p:nvSpPr>
        <p:spPr>
          <a:xfrm>
            <a:off x="2559144"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p>
        </p:txBody>
      </p:sp>
      <p:sp>
        <p:nvSpPr>
          <p:cNvPr id="25" name="Shape 23"/>
          <p:cNvSpPr/>
          <p:nvPr/>
        </p:nvSpPr>
        <p:spPr>
          <a:xfrm>
            <a:off x="3218819" y="4869180"/>
            <a:ext cx="153489" cy="480060"/>
          </a:xfrm>
          <a:prstGeom prst="rect">
            <a:avLst/>
          </a:prstGeom>
          <a:solidFill>
            <a:srgbClr val="2E75B6"/>
          </a:solidFill>
          <a:ln w="12700">
            <a:solidFill>
              <a:srgbClr val="2E75B6"/>
            </a:solidFill>
            <a:prstDash val="solid"/>
          </a:ln>
        </p:spPr>
      </p:sp>
      <p:sp>
        <p:nvSpPr>
          <p:cNvPr id="26" name="Text 24"/>
          <p:cNvSpPr/>
          <p:nvPr/>
        </p:nvSpPr>
        <p:spPr>
          <a:xfrm>
            <a:off x="3173099"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27" name="Shape 25"/>
          <p:cNvSpPr/>
          <p:nvPr/>
        </p:nvSpPr>
        <p:spPr>
          <a:xfrm>
            <a:off x="3525796" y="4581144"/>
            <a:ext cx="153489" cy="768096"/>
          </a:xfrm>
          <a:prstGeom prst="rect">
            <a:avLst/>
          </a:prstGeom>
          <a:solidFill>
            <a:srgbClr val="2E75B6"/>
          </a:solidFill>
          <a:ln w="12700">
            <a:solidFill>
              <a:srgbClr val="2E75B6"/>
            </a:solidFill>
            <a:prstDash val="solid"/>
          </a:ln>
        </p:spPr>
      </p:sp>
      <p:sp>
        <p:nvSpPr>
          <p:cNvPr id="28" name="Text 26"/>
          <p:cNvSpPr/>
          <p:nvPr/>
        </p:nvSpPr>
        <p:spPr>
          <a:xfrm>
            <a:off x="3480076"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p>
        </p:txBody>
      </p:sp>
      <p:sp>
        <p:nvSpPr>
          <p:cNvPr id="29" name="Shape 27"/>
          <p:cNvSpPr/>
          <p:nvPr/>
        </p:nvSpPr>
        <p:spPr>
          <a:xfrm>
            <a:off x="3832773" y="4965192"/>
            <a:ext cx="153489" cy="384048"/>
          </a:xfrm>
          <a:prstGeom prst="rect">
            <a:avLst/>
          </a:prstGeom>
          <a:solidFill>
            <a:srgbClr val="2E75B6"/>
          </a:solidFill>
          <a:ln w="12700">
            <a:solidFill>
              <a:srgbClr val="2E75B6"/>
            </a:solidFill>
            <a:prstDash val="solid"/>
          </a:ln>
        </p:spPr>
      </p:sp>
      <p:sp>
        <p:nvSpPr>
          <p:cNvPr id="30" name="Text 28"/>
          <p:cNvSpPr/>
          <p:nvPr/>
        </p:nvSpPr>
        <p:spPr>
          <a:xfrm>
            <a:off x="3787053"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31" name="Shape 29"/>
          <p:cNvSpPr/>
          <p:nvPr/>
        </p:nvSpPr>
        <p:spPr>
          <a:xfrm>
            <a:off x="4139750" y="5157216"/>
            <a:ext cx="153489" cy="192024"/>
          </a:xfrm>
          <a:prstGeom prst="rect">
            <a:avLst/>
          </a:prstGeom>
          <a:solidFill>
            <a:srgbClr val="2E75B6"/>
          </a:solidFill>
          <a:ln w="12700">
            <a:solidFill>
              <a:srgbClr val="2E75B6"/>
            </a:solidFill>
            <a:prstDash val="solid"/>
          </a:ln>
        </p:spPr>
      </p:sp>
      <p:sp>
        <p:nvSpPr>
          <p:cNvPr id="32" name="Text 30"/>
          <p:cNvSpPr/>
          <p:nvPr/>
        </p:nvSpPr>
        <p:spPr>
          <a:xfrm>
            <a:off x="3956870" y="4937760"/>
            <a:ext cx="519249" cy="201168"/>
          </a:xfrm>
          <a:prstGeom prst="rect">
            <a:avLst/>
          </a:prstGeom>
          <a:noFill/>
          <a:ln/>
        </p:spPr>
        <p:txBody>
          <a:bodyPr wrap="square" rtlCol="0" anchor="ctr"/>
          <a:lstStyle/>
          <a:p>
            <a:pPr algn="ctr" indent="0" marL="0">
              <a:buNone/>
            </a:pPr>
            <a:r>
              <a:rPr lang="en-US" sz="800" dirty="0">
                <a:solidFill>
                  <a:srgbClr val="2E75B6"/>
                </a:solidFill>
                <a:latin typeface="Calibri" pitchFamily="34" charset="0"/>
                <a:ea typeface="Calibri" pitchFamily="34" charset="-122"/>
                <a:cs typeface="Calibri" pitchFamily="34" charset="-120"/>
              </a:rPr>
              <a:t>2</a:t>
            </a:r>
            <a:endParaRPr lang="en-US" sz="800" dirty="0"/>
          </a:p>
        </p:txBody>
      </p:sp>
      <p:sp>
        <p:nvSpPr>
          <p:cNvPr id="33" name="Shape 31"/>
          <p:cNvSpPr/>
          <p:nvPr/>
        </p:nvSpPr>
        <p:spPr>
          <a:xfrm>
            <a:off x="4446727" y="4293108"/>
            <a:ext cx="153489" cy="1056132"/>
          </a:xfrm>
          <a:prstGeom prst="rect">
            <a:avLst/>
          </a:prstGeom>
          <a:solidFill>
            <a:srgbClr val="2E75B6"/>
          </a:solidFill>
          <a:ln w="12700">
            <a:solidFill>
              <a:srgbClr val="2E75B6"/>
            </a:solidFill>
            <a:prstDash val="solid"/>
          </a:ln>
        </p:spPr>
      </p:sp>
      <p:sp>
        <p:nvSpPr>
          <p:cNvPr id="34" name="Text 32"/>
          <p:cNvSpPr/>
          <p:nvPr/>
        </p:nvSpPr>
        <p:spPr>
          <a:xfrm>
            <a:off x="4401007"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11</a:t>
            </a:r>
            <a:endParaRPr lang="en-US" sz="750" dirty="0"/>
          </a:p>
        </p:txBody>
      </p:sp>
      <p:sp>
        <p:nvSpPr>
          <p:cNvPr id="35" name="Shape 33"/>
          <p:cNvSpPr/>
          <p:nvPr/>
        </p:nvSpPr>
        <p:spPr>
          <a:xfrm>
            <a:off x="4753704" y="3525012"/>
            <a:ext cx="153489" cy="1824228"/>
          </a:xfrm>
          <a:prstGeom prst="rect">
            <a:avLst/>
          </a:prstGeom>
          <a:solidFill>
            <a:srgbClr val="2E75B6"/>
          </a:solidFill>
          <a:ln w="12700">
            <a:solidFill>
              <a:srgbClr val="2E75B6"/>
            </a:solidFill>
            <a:prstDash val="solid"/>
          </a:ln>
        </p:spPr>
      </p:sp>
      <p:sp>
        <p:nvSpPr>
          <p:cNvPr id="36" name="Text 34"/>
          <p:cNvSpPr/>
          <p:nvPr/>
        </p:nvSpPr>
        <p:spPr>
          <a:xfrm>
            <a:off x="4707984"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a:t>
            </a:r>
            <a:endParaRPr lang="en-US" sz="750" dirty="0"/>
          </a:p>
        </p:txBody>
      </p:sp>
      <p:sp>
        <p:nvSpPr>
          <p:cNvPr id="37" name="Shape 35"/>
          <p:cNvSpPr/>
          <p:nvPr/>
        </p:nvSpPr>
        <p:spPr>
          <a:xfrm>
            <a:off x="5060681" y="4869180"/>
            <a:ext cx="153489" cy="480060"/>
          </a:xfrm>
          <a:prstGeom prst="rect">
            <a:avLst/>
          </a:prstGeom>
          <a:solidFill>
            <a:srgbClr val="2E75B6"/>
          </a:solidFill>
          <a:ln w="12700">
            <a:solidFill>
              <a:srgbClr val="2E75B6"/>
            </a:solidFill>
            <a:prstDash val="solid"/>
          </a:ln>
        </p:spPr>
      </p:sp>
      <p:sp>
        <p:nvSpPr>
          <p:cNvPr id="38" name="Text 36"/>
          <p:cNvSpPr/>
          <p:nvPr/>
        </p:nvSpPr>
        <p:spPr>
          <a:xfrm>
            <a:off x="5014961"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39" name="Shape 37"/>
          <p:cNvSpPr/>
          <p:nvPr/>
        </p:nvSpPr>
        <p:spPr>
          <a:xfrm>
            <a:off x="5367659" y="4869180"/>
            <a:ext cx="153489" cy="480060"/>
          </a:xfrm>
          <a:prstGeom prst="rect">
            <a:avLst/>
          </a:prstGeom>
          <a:solidFill>
            <a:srgbClr val="2E75B6"/>
          </a:solidFill>
          <a:ln w="12700">
            <a:solidFill>
              <a:srgbClr val="2E75B6"/>
            </a:solidFill>
            <a:prstDash val="solid"/>
          </a:ln>
        </p:spPr>
      </p:sp>
      <p:sp>
        <p:nvSpPr>
          <p:cNvPr id="40" name="Text 38"/>
          <p:cNvSpPr/>
          <p:nvPr/>
        </p:nvSpPr>
        <p:spPr>
          <a:xfrm>
            <a:off x="5321939"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41" name="Shape 39"/>
          <p:cNvSpPr/>
          <p:nvPr/>
        </p:nvSpPr>
        <p:spPr>
          <a:xfrm>
            <a:off x="5674636" y="4101084"/>
            <a:ext cx="153489" cy="1248156"/>
          </a:xfrm>
          <a:prstGeom prst="rect">
            <a:avLst/>
          </a:prstGeom>
          <a:solidFill>
            <a:srgbClr val="2E75B6"/>
          </a:solidFill>
          <a:ln w="12700">
            <a:solidFill>
              <a:srgbClr val="2E75B6"/>
            </a:solidFill>
            <a:prstDash val="solid"/>
          </a:ln>
        </p:spPr>
      </p:sp>
      <p:sp>
        <p:nvSpPr>
          <p:cNvPr id="42" name="Text 40"/>
          <p:cNvSpPr/>
          <p:nvPr/>
        </p:nvSpPr>
        <p:spPr>
          <a:xfrm>
            <a:off x="5628916"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13</a:t>
            </a:r>
            <a:endParaRPr lang="en-US" sz="750" dirty="0"/>
          </a:p>
        </p:txBody>
      </p:sp>
      <p:sp>
        <p:nvSpPr>
          <p:cNvPr id="43" name="Shape 41"/>
          <p:cNvSpPr/>
          <p:nvPr/>
        </p:nvSpPr>
        <p:spPr>
          <a:xfrm>
            <a:off x="5981613" y="2468880"/>
            <a:ext cx="153489" cy="2880360"/>
          </a:xfrm>
          <a:prstGeom prst="rect">
            <a:avLst/>
          </a:prstGeom>
          <a:solidFill>
            <a:srgbClr val="2E75B6"/>
          </a:solidFill>
          <a:ln w="12700">
            <a:solidFill>
              <a:srgbClr val="2E75B6"/>
            </a:solidFill>
            <a:prstDash val="solid"/>
          </a:ln>
        </p:spPr>
      </p:sp>
      <p:sp>
        <p:nvSpPr>
          <p:cNvPr id="44" name="Text 42"/>
          <p:cNvSpPr/>
          <p:nvPr/>
        </p:nvSpPr>
        <p:spPr>
          <a:xfrm>
            <a:off x="5935893"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30</a:t>
            </a:r>
            <a:endParaRPr lang="en-US" sz="750" dirty="0"/>
          </a:p>
        </p:txBody>
      </p:sp>
      <p:sp>
        <p:nvSpPr>
          <p:cNvPr id="45" name="Shape 43"/>
          <p:cNvSpPr/>
          <p:nvPr/>
        </p:nvSpPr>
        <p:spPr>
          <a:xfrm>
            <a:off x="6288590" y="4869180"/>
            <a:ext cx="153489" cy="480060"/>
          </a:xfrm>
          <a:prstGeom prst="rect">
            <a:avLst/>
          </a:prstGeom>
          <a:solidFill>
            <a:srgbClr val="2E75B6"/>
          </a:solidFill>
          <a:ln w="12700">
            <a:solidFill>
              <a:srgbClr val="2E75B6"/>
            </a:solidFill>
            <a:prstDash val="solid"/>
          </a:ln>
        </p:spPr>
      </p:sp>
      <p:sp>
        <p:nvSpPr>
          <p:cNvPr id="46" name="Text 44"/>
          <p:cNvSpPr/>
          <p:nvPr/>
        </p:nvSpPr>
        <p:spPr>
          <a:xfrm>
            <a:off x="6242870"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47" name="Shape 45"/>
          <p:cNvSpPr/>
          <p:nvPr/>
        </p:nvSpPr>
        <p:spPr>
          <a:xfrm>
            <a:off x="6595567" y="4293108"/>
            <a:ext cx="153489" cy="1056132"/>
          </a:xfrm>
          <a:prstGeom prst="rect">
            <a:avLst/>
          </a:prstGeom>
          <a:solidFill>
            <a:srgbClr val="2E75B6"/>
          </a:solidFill>
          <a:ln w="12700">
            <a:solidFill>
              <a:srgbClr val="2E75B6"/>
            </a:solidFill>
            <a:prstDash val="solid"/>
          </a:ln>
        </p:spPr>
      </p:sp>
      <p:sp>
        <p:nvSpPr>
          <p:cNvPr id="48" name="Text 46"/>
          <p:cNvSpPr/>
          <p:nvPr/>
        </p:nvSpPr>
        <p:spPr>
          <a:xfrm>
            <a:off x="6549847"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11</a:t>
            </a:r>
            <a:endParaRPr lang="en-US" sz="750" dirty="0"/>
          </a:p>
        </p:txBody>
      </p:sp>
      <p:sp>
        <p:nvSpPr>
          <p:cNvPr id="49" name="Shape 47"/>
          <p:cNvSpPr/>
          <p:nvPr/>
        </p:nvSpPr>
        <p:spPr>
          <a:xfrm>
            <a:off x="6902544" y="4869180"/>
            <a:ext cx="153489" cy="480060"/>
          </a:xfrm>
          <a:prstGeom prst="rect">
            <a:avLst/>
          </a:prstGeom>
          <a:solidFill>
            <a:srgbClr val="2E75B6"/>
          </a:solidFill>
          <a:ln w="12700">
            <a:solidFill>
              <a:srgbClr val="2E75B6"/>
            </a:solidFill>
            <a:prstDash val="solid"/>
          </a:ln>
        </p:spPr>
      </p:sp>
      <p:sp>
        <p:nvSpPr>
          <p:cNvPr id="50" name="Text 48"/>
          <p:cNvSpPr/>
          <p:nvPr/>
        </p:nvSpPr>
        <p:spPr>
          <a:xfrm>
            <a:off x="6856824"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51" name="Shape 49"/>
          <p:cNvSpPr/>
          <p:nvPr/>
        </p:nvSpPr>
        <p:spPr>
          <a:xfrm>
            <a:off x="7209521" y="4773168"/>
            <a:ext cx="153489" cy="576072"/>
          </a:xfrm>
          <a:prstGeom prst="rect">
            <a:avLst/>
          </a:prstGeom>
          <a:solidFill>
            <a:srgbClr val="2E75B6"/>
          </a:solidFill>
          <a:ln w="12700">
            <a:solidFill>
              <a:srgbClr val="2E75B6"/>
            </a:solidFill>
            <a:prstDash val="solid"/>
          </a:ln>
        </p:spPr>
      </p:sp>
      <p:sp>
        <p:nvSpPr>
          <p:cNvPr id="52" name="Text 50"/>
          <p:cNvSpPr/>
          <p:nvPr/>
        </p:nvSpPr>
        <p:spPr>
          <a:xfrm>
            <a:off x="7163801" y="5129784"/>
            <a:ext cx="244929"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53" name="Shape 51"/>
          <p:cNvSpPr/>
          <p:nvPr/>
        </p:nvSpPr>
        <p:spPr>
          <a:xfrm>
            <a:off x="1291002" y="5157216"/>
            <a:ext cx="306977" cy="0"/>
          </a:xfrm>
          <a:prstGeom prst="line">
            <a:avLst/>
          </a:prstGeom>
          <a:noFill/>
          <a:ln w="28575">
            <a:solidFill>
              <a:srgbClr val="1F3864"/>
            </a:solidFill>
            <a:prstDash val="solid"/>
          </a:ln>
        </p:spPr>
      </p:sp>
      <p:sp>
        <p:nvSpPr>
          <p:cNvPr id="54" name="Shape 52"/>
          <p:cNvSpPr/>
          <p:nvPr/>
        </p:nvSpPr>
        <p:spPr>
          <a:xfrm>
            <a:off x="1597979" y="5157216"/>
            <a:ext cx="306977" cy="0"/>
          </a:xfrm>
          <a:prstGeom prst="line">
            <a:avLst/>
          </a:prstGeom>
          <a:noFill/>
          <a:ln w="28575">
            <a:solidFill>
              <a:srgbClr val="1F3864"/>
            </a:solidFill>
            <a:prstDash val="solid"/>
          </a:ln>
        </p:spPr>
      </p:sp>
      <p:sp>
        <p:nvSpPr>
          <p:cNvPr id="55" name="Shape 53"/>
          <p:cNvSpPr/>
          <p:nvPr/>
        </p:nvSpPr>
        <p:spPr>
          <a:xfrm>
            <a:off x="1904956" y="5157216"/>
            <a:ext cx="306977" cy="0"/>
          </a:xfrm>
          <a:prstGeom prst="line">
            <a:avLst/>
          </a:prstGeom>
          <a:noFill/>
          <a:ln w="28575">
            <a:solidFill>
              <a:srgbClr val="1F3864"/>
            </a:solidFill>
            <a:prstDash val="solid"/>
          </a:ln>
        </p:spPr>
      </p:sp>
      <p:sp>
        <p:nvSpPr>
          <p:cNvPr id="56" name="Shape 54"/>
          <p:cNvSpPr/>
          <p:nvPr/>
        </p:nvSpPr>
        <p:spPr>
          <a:xfrm flipV="1">
            <a:off x="2211934" y="5109210"/>
            <a:ext cx="306977" cy="48006"/>
          </a:xfrm>
          <a:prstGeom prst="line">
            <a:avLst/>
          </a:prstGeom>
          <a:noFill/>
          <a:ln w="28575">
            <a:solidFill>
              <a:srgbClr val="1F3864"/>
            </a:solidFill>
            <a:prstDash val="solid"/>
          </a:ln>
        </p:spPr>
      </p:sp>
      <p:sp>
        <p:nvSpPr>
          <p:cNvPr id="57" name="Shape 55"/>
          <p:cNvSpPr/>
          <p:nvPr/>
        </p:nvSpPr>
        <p:spPr>
          <a:xfrm flipV="1">
            <a:off x="2518911" y="4917186"/>
            <a:ext cx="306977" cy="192024"/>
          </a:xfrm>
          <a:prstGeom prst="line">
            <a:avLst/>
          </a:prstGeom>
          <a:noFill/>
          <a:ln w="28575">
            <a:solidFill>
              <a:srgbClr val="1F3864"/>
            </a:solidFill>
            <a:prstDash val="solid"/>
          </a:ln>
        </p:spPr>
      </p:sp>
      <p:sp>
        <p:nvSpPr>
          <p:cNvPr id="58" name="Shape 56"/>
          <p:cNvSpPr/>
          <p:nvPr/>
        </p:nvSpPr>
        <p:spPr>
          <a:xfrm>
            <a:off x="2825888" y="4917186"/>
            <a:ext cx="306977" cy="0"/>
          </a:xfrm>
          <a:prstGeom prst="line">
            <a:avLst/>
          </a:prstGeom>
          <a:noFill/>
          <a:ln w="28575">
            <a:solidFill>
              <a:srgbClr val="1F3864"/>
            </a:solidFill>
            <a:prstDash val="solid"/>
          </a:ln>
        </p:spPr>
      </p:sp>
      <p:sp>
        <p:nvSpPr>
          <p:cNvPr id="59" name="Shape 57"/>
          <p:cNvSpPr/>
          <p:nvPr/>
        </p:nvSpPr>
        <p:spPr>
          <a:xfrm flipV="1">
            <a:off x="3132865" y="4797171"/>
            <a:ext cx="306977" cy="120015"/>
          </a:xfrm>
          <a:prstGeom prst="line">
            <a:avLst/>
          </a:prstGeom>
          <a:noFill/>
          <a:ln w="28575">
            <a:solidFill>
              <a:srgbClr val="1F3864"/>
            </a:solidFill>
            <a:prstDash val="solid"/>
          </a:ln>
        </p:spPr>
      </p:sp>
      <p:sp>
        <p:nvSpPr>
          <p:cNvPr id="60" name="Shape 58"/>
          <p:cNvSpPr/>
          <p:nvPr/>
        </p:nvSpPr>
        <p:spPr>
          <a:xfrm flipV="1">
            <a:off x="3439842" y="4605147"/>
            <a:ext cx="306977" cy="192024"/>
          </a:xfrm>
          <a:prstGeom prst="line">
            <a:avLst/>
          </a:prstGeom>
          <a:noFill/>
          <a:ln w="28575">
            <a:solidFill>
              <a:srgbClr val="1F3864"/>
            </a:solidFill>
            <a:prstDash val="solid"/>
          </a:ln>
        </p:spPr>
      </p:sp>
      <p:sp>
        <p:nvSpPr>
          <p:cNvPr id="61" name="Shape 59"/>
          <p:cNvSpPr/>
          <p:nvPr/>
        </p:nvSpPr>
        <p:spPr>
          <a:xfrm flipV="1">
            <a:off x="3746819" y="4509135"/>
            <a:ext cx="306977" cy="96012"/>
          </a:xfrm>
          <a:prstGeom prst="line">
            <a:avLst/>
          </a:prstGeom>
          <a:noFill/>
          <a:ln w="28575">
            <a:solidFill>
              <a:srgbClr val="1F3864"/>
            </a:solidFill>
            <a:prstDash val="solid"/>
          </a:ln>
        </p:spPr>
      </p:sp>
      <p:sp>
        <p:nvSpPr>
          <p:cNvPr id="62" name="Shape 60"/>
          <p:cNvSpPr/>
          <p:nvPr/>
        </p:nvSpPr>
        <p:spPr>
          <a:xfrm flipV="1">
            <a:off x="4053796" y="4461129"/>
            <a:ext cx="306977" cy="48006"/>
          </a:xfrm>
          <a:prstGeom prst="line">
            <a:avLst/>
          </a:prstGeom>
          <a:noFill/>
          <a:ln w="28575">
            <a:solidFill>
              <a:srgbClr val="1F3864"/>
            </a:solidFill>
            <a:prstDash val="solid"/>
          </a:ln>
        </p:spPr>
      </p:sp>
      <p:sp>
        <p:nvSpPr>
          <p:cNvPr id="63" name="Shape 61"/>
          <p:cNvSpPr/>
          <p:nvPr/>
        </p:nvSpPr>
        <p:spPr>
          <a:xfrm flipV="1">
            <a:off x="4360774" y="4197096"/>
            <a:ext cx="306977" cy="264033"/>
          </a:xfrm>
          <a:prstGeom prst="line">
            <a:avLst/>
          </a:prstGeom>
          <a:noFill/>
          <a:ln w="28575">
            <a:solidFill>
              <a:srgbClr val="1F3864"/>
            </a:solidFill>
            <a:prstDash val="solid"/>
          </a:ln>
        </p:spPr>
      </p:sp>
      <p:sp>
        <p:nvSpPr>
          <p:cNvPr id="64" name="Shape 62"/>
          <p:cNvSpPr/>
          <p:nvPr/>
        </p:nvSpPr>
        <p:spPr>
          <a:xfrm flipV="1">
            <a:off x="4667751" y="3741039"/>
            <a:ext cx="306977" cy="456057"/>
          </a:xfrm>
          <a:prstGeom prst="line">
            <a:avLst/>
          </a:prstGeom>
          <a:noFill/>
          <a:ln w="28575">
            <a:solidFill>
              <a:srgbClr val="1F3864"/>
            </a:solidFill>
            <a:prstDash val="solid"/>
          </a:ln>
        </p:spPr>
      </p:sp>
      <p:sp>
        <p:nvSpPr>
          <p:cNvPr id="65" name="Shape 63"/>
          <p:cNvSpPr/>
          <p:nvPr/>
        </p:nvSpPr>
        <p:spPr>
          <a:xfrm flipV="1">
            <a:off x="4974728" y="3621024"/>
            <a:ext cx="306977" cy="120015"/>
          </a:xfrm>
          <a:prstGeom prst="line">
            <a:avLst/>
          </a:prstGeom>
          <a:noFill/>
          <a:ln w="28575">
            <a:solidFill>
              <a:srgbClr val="1F3864"/>
            </a:solidFill>
            <a:prstDash val="solid"/>
          </a:ln>
        </p:spPr>
      </p:sp>
      <p:sp>
        <p:nvSpPr>
          <p:cNvPr id="66" name="Shape 64"/>
          <p:cNvSpPr/>
          <p:nvPr/>
        </p:nvSpPr>
        <p:spPr>
          <a:xfrm flipV="1">
            <a:off x="5281705" y="3501009"/>
            <a:ext cx="306977" cy="120015"/>
          </a:xfrm>
          <a:prstGeom prst="line">
            <a:avLst/>
          </a:prstGeom>
          <a:noFill/>
          <a:ln w="28575">
            <a:solidFill>
              <a:srgbClr val="1F3864"/>
            </a:solidFill>
            <a:prstDash val="solid"/>
          </a:ln>
        </p:spPr>
      </p:sp>
      <p:sp>
        <p:nvSpPr>
          <p:cNvPr id="67" name="Shape 65"/>
          <p:cNvSpPr/>
          <p:nvPr/>
        </p:nvSpPr>
        <p:spPr>
          <a:xfrm flipV="1">
            <a:off x="5588682" y="3188970"/>
            <a:ext cx="306977" cy="312039"/>
          </a:xfrm>
          <a:prstGeom prst="line">
            <a:avLst/>
          </a:prstGeom>
          <a:noFill/>
          <a:ln w="28575">
            <a:solidFill>
              <a:srgbClr val="1F3864"/>
            </a:solidFill>
            <a:prstDash val="solid"/>
          </a:ln>
        </p:spPr>
      </p:sp>
      <p:sp>
        <p:nvSpPr>
          <p:cNvPr id="68" name="Shape 66"/>
          <p:cNvSpPr/>
          <p:nvPr/>
        </p:nvSpPr>
        <p:spPr>
          <a:xfrm flipV="1">
            <a:off x="5895659" y="2468880"/>
            <a:ext cx="306977" cy="720090"/>
          </a:xfrm>
          <a:prstGeom prst="line">
            <a:avLst/>
          </a:prstGeom>
          <a:noFill/>
          <a:ln w="28575">
            <a:solidFill>
              <a:srgbClr val="1F3864"/>
            </a:solidFill>
            <a:prstDash val="solid"/>
          </a:ln>
        </p:spPr>
      </p:sp>
      <p:sp>
        <p:nvSpPr>
          <p:cNvPr id="69" name="Shape 67"/>
          <p:cNvSpPr/>
          <p:nvPr/>
        </p:nvSpPr>
        <p:spPr>
          <a:xfrm flipV="1">
            <a:off x="6202636" y="2348865"/>
            <a:ext cx="306977" cy="120015"/>
          </a:xfrm>
          <a:prstGeom prst="line">
            <a:avLst/>
          </a:prstGeom>
          <a:noFill/>
          <a:ln w="28575">
            <a:solidFill>
              <a:srgbClr val="1F3864"/>
            </a:solidFill>
            <a:prstDash val="solid"/>
          </a:ln>
        </p:spPr>
      </p:sp>
      <p:sp>
        <p:nvSpPr>
          <p:cNvPr id="70" name="Shape 68"/>
          <p:cNvSpPr/>
          <p:nvPr/>
        </p:nvSpPr>
        <p:spPr>
          <a:xfrm flipV="1">
            <a:off x="6509614" y="2084832"/>
            <a:ext cx="306977" cy="264033"/>
          </a:xfrm>
          <a:prstGeom prst="line">
            <a:avLst/>
          </a:prstGeom>
          <a:noFill/>
          <a:ln w="28575">
            <a:solidFill>
              <a:srgbClr val="1F3864"/>
            </a:solidFill>
            <a:prstDash val="solid"/>
          </a:ln>
        </p:spPr>
      </p:sp>
      <p:sp>
        <p:nvSpPr>
          <p:cNvPr id="71" name="Shape 69"/>
          <p:cNvSpPr/>
          <p:nvPr/>
        </p:nvSpPr>
        <p:spPr>
          <a:xfrm flipV="1">
            <a:off x="6816591" y="1964817"/>
            <a:ext cx="306977" cy="120015"/>
          </a:xfrm>
          <a:prstGeom prst="line">
            <a:avLst/>
          </a:prstGeom>
          <a:noFill/>
          <a:ln w="28575">
            <a:solidFill>
              <a:srgbClr val="1F3864"/>
            </a:solidFill>
            <a:prstDash val="solid"/>
          </a:ln>
        </p:spPr>
      </p:sp>
      <p:sp>
        <p:nvSpPr>
          <p:cNvPr id="72" name="Shape 70"/>
          <p:cNvSpPr/>
          <p:nvPr/>
        </p:nvSpPr>
        <p:spPr>
          <a:xfrm flipV="1">
            <a:off x="7123568" y="1820799"/>
            <a:ext cx="306977" cy="144018"/>
          </a:xfrm>
          <a:prstGeom prst="line">
            <a:avLst/>
          </a:prstGeom>
          <a:noFill/>
          <a:ln w="28575">
            <a:solidFill>
              <a:srgbClr val="1F3864"/>
            </a:solidFill>
            <a:prstDash val="solid"/>
          </a:ln>
        </p:spPr>
      </p:sp>
      <p:sp>
        <p:nvSpPr>
          <p:cNvPr id="73" name="Shape 71"/>
          <p:cNvSpPr/>
          <p:nvPr/>
        </p:nvSpPr>
        <p:spPr>
          <a:xfrm>
            <a:off x="1236138" y="5102352"/>
            <a:ext cx="109728" cy="109728"/>
          </a:xfrm>
          <a:prstGeom prst="ellipse">
            <a:avLst/>
          </a:prstGeom>
          <a:solidFill>
            <a:srgbClr val="1F3864"/>
          </a:solidFill>
          <a:ln w="12700">
            <a:solidFill>
              <a:srgbClr val="FFFFFF"/>
            </a:solidFill>
            <a:prstDash val="solid"/>
          </a:ln>
        </p:spPr>
      </p:sp>
      <p:sp>
        <p:nvSpPr>
          <p:cNvPr id="74" name="Text 72"/>
          <p:cNvSpPr/>
          <p:nvPr/>
        </p:nvSpPr>
        <p:spPr>
          <a:xfrm>
            <a:off x="1336722" y="5175504"/>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1543115" y="5102352"/>
            <a:ext cx="109728" cy="109728"/>
          </a:xfrm>
          <a:prstGeom prst="ellipse">
            <a:avLst/>
          </a:prstGeom>
          <a:solidFill>
            <a:srgbClr val="1F3864"/>
          </a:solidFill>
          <a:ln w="12700">
            <a:solidFill>
              <a:srgbClr val="FFFFFF"/>
            </a:solidFill>
            <a:prstDash val="solid"/>
          </a:ln>
        </p:spPr>
      </p:sp>
      <p:sp>
        <p:nvSpPr>
          <p:cNvPr id="76" name="Shape 74"/>
          <p:cNvSpPr/>
          <p:nvPr/>
        </p:nvSpPr>
        <p:spPr>
          <a:xfrm>
            <a:off x="1850092" y="5102352"/>
            <a:ext cx="109728" cy="109728"/>
          </a:xfrm>
          <a:prstGeom prst="ellipse">
            <a:avLst/>
          </a:prstGeom>
          <a:solidFill>
            <a:srgbClr val="1F3864"/>
          </a:solidFill>
          <a:ln w="12700">
            <a:solidFill>
              <a:srgbClr val="FFFFFF"/>
            </a:solidFill>
            <a:prstDash val="solid"/>
          </a:ln>
        </p:spPr>
      </p:sp>
      <p:sp>
        <p:nvSpPr>
          <p:cNvPr id="77" name="Shape 75"/>
          <p:cNvSpPr/>
          <p:nvPr/>
        </p:nvSpPr>
        <p:spPr>
          <a:xfrm>
            <a:off x="2157070" y="5102352"/>
            <a:ext cx="109728" cy="109728"/>
          </a:xfrm>
          <a:prstGeom prst="ellipse">
            <a:avLst/>
          </a:prstGeom>
          <a:solidFill>
            <a:srgbClr val="1F3864"/>
          </a:solidFill>
          <a:ln w="12700">
            <a:solidFill>
              <a:srgbClr val="FFFFFF"/>
            </a:solidFill>
            <a:prstDash val="solid"/>
          </a:ln>
        </p:spPr>
      </p:sp>
      <p:sp>
        <p:nvSpPr>
          <p:cNvPr id="78" name="Shape 76"/>
          <p:cNvSpPr/>
          <p:nvPr/>
        </p:nvSpPr>
        <p:spPr>
          <a:xfrm>
            <a:off x="2464047" y="5054346"/>
            <a:ext cx="109728" cy="109728"/>
          </a:xfrm>
          <a:prstGeom prst="ellipse">
            <a:avLst/>
          </a:prstGeom>
          <a:solidFill>
            <a:srgbClr val="1F3864"/>
          </a:solidFill>
          <a:ln w="12700">
            <a:solidFill>
              <a:srgbClr val="FFFFFF"/>
            </a:solidFill>
            <a:prstDash val="solid"/>
          </a:ln>
        </p:spPr>
      </p:sp>
      <p:sp>
        <p:nvSpPr>
          <p:cNvPr id="79" name="Shape 77"/>
          <p:cNvSpPr/>
          <p:nvPr/>
        </p:nvSpPr>
        <p:spPr>
          <a:xfrm>
            <a:off x="2771024" y="4862322"/>
            <a:ext cx="109728" cy="109728"/>
          </a:xfrm>
          <a:prstGeom prst="ellipse">
            <a:avLst/>
          </a:prstGeom>
          <a:solidFill>
            <a:srgbClr val="1F3864"/>
          </a:solidFill>
          <a:ln w="12700">
            <a:solidFill>
              <a:srgbClr val="FFFFFF"/>
            </a:solidFill>
            <a:prstDash val="solid"/>
          </a:ln>
        </p:spPr>
      </p:sp>
      <p:sp>
        <p:nvSpPr>
          <p:cNvPr id="80" name="Text 78"/>
          <p:cNvSpPr/>
          <p:nvPr/>
        </p:nvSpPr>
        <p:spPr>
          <a:xfrm>
            <a:off x="2871608" y="4935474"/>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18</a:t>
            </a:r>
            <a:endParaRPr lang="en-US" sz="900" dirty="0"/>
          </a:p>
        </p:txBody>
      </p:sp>
      <p:sp>
        <p:nvSpPr>
          <p:cNvPr id="81" name="Shape 79"/>
          <p:cNvSpPr/>
          <p:nvPr/>
        </p:nvSpPr>
        <p:spPr>
          <a:xfrm>
            <a:off x="3078001" y="4862322"/>
            <a:ext cx="109728" cy="109728"/>
          </a:xfrm>
          <a:prstGeom prst="ellipse">
            <a:avLst/>
          </a:prstGeom>
          <a:solidFill>
            <a:srgbClr val="1F3864"/>
          </a:solidFill>
          <a:ln w="12700">
            <a:solidFill>
              <a:srgbClr val="FFFFFF"/>
            </a:solidFill>
            <a:prstDash val="solid"/>
          </a:ln>
        </p:spPr>
      </p:sp>
      <p:sp>
        <p:nvSpPr>
          <p:cNvPr id="82" name="Shape 80"/>
          <p:cNvSpPr/>
          <p:nvPr/>
        </p:nvSpPr>
        <p:spPr>
          <a:xfrm>
            <a:off x="3384978" y="4742307"/>
            <a:ext cx="109728" cy="109728"/>
          </a:xfrm>
          <a:prstGeom prst="ellipse">
            <a:avLst/>
          </a:prstGeom>
          <a:solidFill>
            <a:srgbClr val="1F3864"/>
          </a:solidFill>
          <a:ln w="12700">
            <a:solidFill>
              <a:srgbClr val="FFFFFF"/>
            </a:solidFill>
            <a:prstDash val="solid"/>
          </a:ln>
        </p:spPr>
      </p:sp>
      <p:sp>
        <p:nvSpPr>
          <p:cNvPr id="83" name="Text 81"/>
          <p:cNvSpPr/>
          <p:nvPr/>
        </p:nvSpPr>
        <p:spPr>
          <a:xfrm>
            <a:off x="3485562" y="4815459"/>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23</a:t>
            </a:r>
            <a:endParaRPr lang="en-US" sz="900" dirty="0"/>
          </a:p>
        </p:txBody>
      </p:sp>
      <p:sp>
        <p:nvSpPr>
          <p:cNvPr id="84" name="Shape 82"/>
          <p:cNvSpPr/>
          <p:nvPr/>
        </p:nvSpPr>
        <p:spPr>
          <a:xfrm>
            <a:off x="3691955" y="4550283"/>
            <a:ext cx="109728" cy="109728"/>
          </a:xfrm>
          <a:prstGeom prst="ellipse">
            <a:avLst/>
          </a:prstGeom>
          <a:solidFill>
            <a:srgbClr val="1F3864"/>
          </a:solidFill>
          <a:ln w="12700">
            <a:solidFill>
              <a:srgbClr val="FFFFFF"/>
            </a:solidFill>
            <a:prstDash val="solid"/>
          </a:ln>
        </p:spPr>
      </p:sp>
      <p:sp>
        <p:nvSpPr>
          <p:cNvPr id="85" name="Shape 83"/>
          <p:cNvSpPr/>
          <p:nvPr/>
        </p:nvSpPr>
        <p:spPr>
          <a:xfrm>
            <a:off x="3998932" y="4454271"/>
            <a:ext cx="109728" cy="109728"/>
          </a:xfrm>
          <a:prstGeom prst="ellipse">
            <a:avLst/>
          </a:prstGeom>
          <a:solidFill>
            <a:srgbClr val="1F3864"/>
          </a:solidFill>
          <a:ln w="12700">
            <a:solidFill>
              <a:srgbClr val="FFFFFF"/>
            </a:solidFill>
            <a:prstDash val="solid"/>
          </a:ln>
        </p:spPr>
      </p:sp>
      <p:sp>
        <p:nvSpPr>
          <p:cNvPr id="86" name="Shape 84"/>
          <p:cNvSpPr/>
          <p:nvPr/>
        </p:nvSpPr>
        <p:spPr>
          <a:xfrm>
            <a:off x="4305910" y="4406265"/>
            <a:ext cx="109728" cy="109728"/>
          </a:xfrm>
          <a:prstGeom prst="ellipse">
            <a:avLst/>
          </a:prstGeom>
          <a:solidFill>
            <a:srgbClr val="1F3864"/>
          </a:solidFill>
          <a:ln w="12700">
            <a:solidFill>
              <a:srgbClr val="FFFFFF"/>
            </a:solidFill>
            <a:prstDash val="solid"/>
          </a:ln>
        </p:spPr>
      </p:sp>
      <p:sp>
        <p:nvSpPr>
          <p:cNvPr id="87" name="Shape 85"/>
          <p:cNvSpPr/>
          <p:nvPr/>
        </p:nvSpPr>
        <p:spPr>
          <a:xfrm>
            <a:off x="4612887" y="4142232"/>
            <a:ext cx="109728" cy="109728"/>
          </a:xfrm>
          <a:prstGeom prst="ellipse">
            <a:avLst/>
          </a:prstGeom>
          <a:solidFill>
            <a:srgbClr val="1F3864"/>
          </a:solidFill>
          <a:ln w="12700">
            <a:solidFill>
              <a:srgbClr val="FFFFFF"/>
            </a:solidFill>
            <a:prstDash val="solid"/>
          </a:ln>
        </p:spPr>
      </p:sp>
      <p:sp>
        <p:nvSpPr>
          <p:cNvPr id="88" name="Shape 86"/>
          <p:cNvSpPr/>
          <p:nvPr/>
        </p:nvSpPr>
        <p:spPr>
          <a:xfrm>
            <a:off x="4919864" y="3686175"/>
            <a:ext cx="109728" cy="109728"/>
          </a:xfrm>
          <a:prstGeom prst="ellipse">
            <a:avLst/>
          </a:prstGeom>
          <a:solidFill>
            <a:srgbClr val="1F3864"/>
          </a:solidFill>
          <a:ln w="12700">
            <a:solidFill>
              <a:srgbClr val="FFFFFF"/>
            </a:solidFill>
            <a:prstDash val="solid"/>
          </a:ln>
        </p:spPr>
      </p:sp>
      <p:sp>
        <p:nvSpPr>
          <p:cNvPr id="89" name="Text 87"/>
          <p:cNvSpPr/>
          <p:nvPr/>
        </p:nvSpPr>
        <p:spPr>
          <a:xfrm>
            <a:off x="5020448" y="3759327"/>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67</a:t>
            </a:r>
            <a:endParaRPr lang="en-US" sz="900" dirty="0"/>
          </a:p>
        </p:txBody>
      </p:sp>
      <p:sp>
        <p:nvSpPr>
          <p:cNvPr id="90" name="Shape 88"/>
          <p:cNvSpPr/>
          <p:nvPr/>
        </p:nvSpPr>
        <p:spPr>
          <a:xfrm>
            <a:off x="5226841" y="3566160"/>
            <a:ext cx="109728" cy="109728"/>
          </a:xfrm>
          <a:prstGeom prst="ellipse">
            <a:avLst/>
          </a:prstGeom>
          <a:solidFill>
            <a:srgbClr val="1F3864"/>
          </a:solidFill>
          <a:ln w="12700">
            <a:solidFill>
              <a:srgbClr val="FFFFFF"/>
            </a:solidFill>
            <a:prstDash val="solid"/>
          </a:ln>
        </p:spPr>
      </p:sp>
      <p:sp>
        <p:nvSpPr>
          <p:cNvPr id="91" name="Shape 89"/>
          <p:cNvSpPr/>
          <p:nvPr/>
        </p:nvSpPr>
        <p:spPr>
          <a:xfrm>
            <a:off x="5533818" y="3446145"/>
            <a:ext cx="109728" cy="109728"/>
          </a:xfrm>
          <a:prstGeom prst="ellipse">
            <a:avLst/>
          </a:prstGeom>
          <a:solidFill>
            <a:srgbClr val="1F3864"/>
          </a:solidFill>
          <a:ln w="12700">
            <a:solidFill>
              <a:srgbClr val="FFFFFF"/>
            </a:solidFill>
            <a:prstDash val="solid"/>
          </a:ln>
        </p:spPr>
      </p:sp>
      <p:sp>
        <p:nvSpPr>
          <p:cNvPr id="92" name="Shape 90"/>
          <p:cNvSpPr/>
          <p:nvPr/>
        </p:nvSpPr>
        <p:spPr>
          <a:xfrm>
            <a:off x="5840795" y="3134106"/>
            <a:ext cx="109728" cy="109728"/>
          </a:xfrm>
          <a:prstGeom prst="ellipse">
            <a:avLst/>
          </a:prstGeom>
          <a:solidFill>
            <a:srgbClr val="1F3864"/>
          </a:solidFill>
          <a:ln w="12700">
            <a:solidFill>
              <a:srgbClr val="FFFFFF"/>
            </a:solidFill>
            <a:prstDash val="solid"/>
          </a:ln>
        </p:spPr>
      </p:sp>
      <p:sp>
        <p:nvSpPr>
          <p:cNvPr id="93" name="Text 91"/>
          <p:cNvSpPr/>
          <p:nvPr/>
        </p:nvSpPr>
        <p:spPr>
          <a:xfrm>
            <a:off x="5941379" y="3207258"/>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90</a:t>
            </a:r>
            <a:endParaRPr lang="en-US" sz="900" dirty="0"/>
          </a:p>
        </p:txBody>
      </p:sp>
      <p:sp>
        <p:nvSpPr>
          <p:cNvPr id="94" name="Shape 92"/>
          <p:cNvSpPr/>
          <p:nvPr/>
        </p:nvSpPr>
        <p:spPr>
          <a:xfrm>
            <a:off x="6147772" y="2414016"/>
            <a:ext cx="109728" cy="109728"/>
          </a:xfrm>
          <a:prstGeom prst="ellipse">
            <a:avLst/>
          </a:prstGeom>
          <a:solidFill>
            <a:srgbClr val="1F3864"/>
          </a:solidFill>
          <a:ln w="12700">
            <a:solidFill>
              <a:srgbClr val="FFFFFF"/>
            </a:solidFill>
            <a:prstDash val="solid"/>
          </a:ln>
        </p:spPr>
      </p:sp>
      <p:sp>
        <p:nvSpPr>
          <p:cNvPr id="95" name="Text 93"/>
          <p:cNvSpPr/>
          <p:nvPr/>
        </p:nvSpPr>
        <p:spPr>
          <a:xfrm>
            <a:off x="6248356" y="2487168"/>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120</a:t>
            </a:r>
            <a:endParaRPr lang="en-US" sz="900" dirty="0"/>
          </a:p>
        </p:txBody>
      </p:sp>
      <p:sp>
        <p:nvSpPr>
          <p:cNvPr id="96" name="Shape 94"/>
          <p:cNvSpPr/>
          <p:nvPr/>
        </p:nvSpPr>
        <p:spPr>
          <a:xfrm>
            <a:off x="6454750" y="2294001"/>
            <a:ext cx="109728" cy="109728"/>
          </a:xfrm>
          <a:prstGeom prst="ellipse">
            <a:avLst/>
          </a:prstGeom>
          <a:solidFill>
            <a:srgbClr val="1F3864"/>
          </a:solidFill>
          <a:ln w="12700">
            <a:solidFill>
              <a:srgbClr val="FFFFFF"/>
            </a:solidFill>
            <a:prstDash val="solid"/>
          </a:ln>
        </p:spPr>
      </p:sp>
      <p:sp>
        <p:nvSpPr>
          <p:cNvPr id="97" name="Shape 95"/>
          <p:cNvSpPr/>
          <p:nvPr/>
        </p:nvSpPr>
        <p:spPr>
          <a:xfrm>
            <a:off x="6761727" y="2029968"/>
            <a:ext cx="109728" cy="109728"/>
          </a:xfrm>
          <a:prstGeom prst="ellipse">
            <a:avLst/>
          </a:prstGeom>
          <a:solidFill>
            <a:srgbClr val="1F3864"/>
          </a:solidFill>
          <a:ln w="12700">
            <a:solidFill>
              <a:srgbClr val="FFFFFF"/>
            </a:solidFill>
            <a:prstDash val="solid"/>
          </a:ln>
        </p:spPr>
      </p:sp>
      <p:sp>
        <p:nvSpPr>
          <p:cNvPr id="98" name="Text 96"/>
          <p:cNvSpPr/>
          <p:nvPr/>
        </p:nvSpPr>
        <p:spPr>
          <a:xfrm>
            <a:off x="6862311" y="2103120"/>
            <a:ext cx="457200" cy="201168"/>
          </a:xfrm>
          <a:prstGeom prst="rect">
            <a:avLst/>
          </a:prstGeom>
          <a:noFill/>
          <a:ln/>
        </p:spPr>
        <p:txBody>
          <a:bodyPr wrap="square" lIns="0" tIns="0" rIns="0" bIns="0" rtlCol="0" anchor="ctr"/>
          <a:lstStyle/>
          <a:p>
            <a:pPr algn="l" indent="0" marL="0">
              <a:buNone/>
            </a:pPr>
            <a:r>
              <a:rPr lang="en-US" sz="900" b="1" dirty="0">
                <a:solidFill>
                  <a:srgbClr val="1F3864"/>
                </a:solidFill>
                <a:latin typeface="Calibri" pitchFamily="34" charset="0"/>
                <a:ea typeface="Calibri" pitchFamily="34" charset="-122"/>
                <a:cs typeface="Calibri" pitchFamily="34" charset="-120"/>
              </a:rPr>
              <a:t>136</a:t>
            </a:r>
            <a:endParaRPr lang="en-US" sz="900" dirty="0"/>
          </a:p>
        </p:txBody>
      </p:sp>
      <p:sp>
        <p:nvSpPr>
          <p:cNvPr id="99" name="Shape 97"/>
          <p:cNvSpPr/>
          <p:nvPr/>
        </p:nvSpPr>
        <p:spPr>
          <a:xfrm>
            <a:off x="7068704" y="1909953"/>
            <a:ext cx="109728" cy="109728"/>
          </a:xfrm>
          <a:prstGeom prst="ellipse">
            <a:avLst/>
          </a:prstGeom>
          <a:solidFill>
            <a:srgbClr val="1F3864"/>
          </a:solidFill>
          <a:ln w="12700">
            <a:solidFill>
              <a:srgbClr val="FFFFFF"/>
            </a:solidFill>
            <a:prstDash val="solid"/>
          </a:ln>
        </p:spPr>
      </p:sp>
      <p:sp>
        <p:nvSpPr>
          <p:cNvPr id="100" name="Shape 98"/>
          <p:cNvSpPr/>
          <p:nvPr/>
        </p:nvSpPr>
        <p:spPr>
          <a:xfrm>
            <a:off x="7375681" y="1765935"/>
            <a:ext cx="109728" cy="109728"/>
          </a:xfrm>
          <a:prstGeom prst="ellipse">
            <a:avLst/>
          </a:prstGeom>
          <a:solidFill>
            <a:srgbClr val="1F3864"/>
          </a:solidFill>
          <a:ln w="12700">
            <a:solidFill>
              <a:srgbClr val="FFFFFF"/>
            </a:solidFill>
            <a:prstDash val="solid"/>
          </a:ln>
        </p:spPr>
      </p:sp>
      <p:sp>
        <p:nvSpPr>
          <p:cNvPr id="101" name="Text 99"/>
          <p:cNvSpPr/>
          <p:nvPr/>
        </p:nvSpPr>
        <p:spPr>
          <a:xfrm>
            <a:off x="7156225" y="1528191"/>
            <a:ext cx="548640" cy="201168"/>
          </a:xfrm>
          <a:prstGeom prst="rect">
            <a:avLst/>
          </a:prstGeom>
          <a:noFill/>
          <a:ln/>
        </p:spPr>
        <p:txBody>
          <a:bodyPr wrap="square" lIns="0" tIns="0" rIns="0" bIns="0" rtlCol="0" anchor="ctr"/>
          <a:lstStyle/>
          <a:p>
            <a:pPr algn="ctr" indent="0" marL="0">
              <a:buNone/>
            </a:pPr>
            <a:r>
              <a:rPr lang="en-US" sz="900" b="1" dirty="0">
                <a:solidFill>
                  <a:srgbClr val="1F3864"/>
                </a:solidFill>
                <a:latin typeface="Calibri" pitchFamily="34" charset="0"/>
                <a:ea typeface="Calibri" pitchFamily="34" charset="-122"/>
                <a:cs typeface="Calibri" pitchFamily="34" charset="-120"/>
              </a:rPr>
              <a:t>147</a:t>
            </a:r>
            <a:endParaRPr lang="en-US" sz="900" dirty="0"/>
          </a:p>
        </p:txBody>
      </p:sp>
      <p:sp>
        <p:nvSpPr>
          <p:cNvPr id="102" name="Text 100"/>
          <p:cNvSpPr/>
          <p:nvPr/>
        </p:nvSpPr>
        <p:spPr>
          <a:xfrm>
            <a:off x="1051560"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W16</a:t>
            </a:r>
            <a:endParaRPr lang="en-US" sz="800" dirty="0"/>
          </a:p>
        </p:txBody>
      </p:sp>
      <p:sp>
        <p:nvSpPr>
          <p:cNvPr id="103" name="Text 101"/>
          <p:cNvSpPr/>
          <p:nvPr/>
        </p:nvSpPr>
        <p:spPr>
          <a:xfrm>
            <a:off x="1358537"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W17</a:t>
            </a:r>
            <a:endParaRPr lang="en-US" sz="800" dirty="0"/>
          </a:p>
        </p:txBody>
      </p:sp>
      <p:sp>
        <p:nvSpPr>
          <p:cNvPr id="104" name="Text 102"/>
          <p:cNvSpPr/>
          <p:nvPr/>
        </p:nvSpPr>
        <p:spPr>
          <a:xfrm>
            <a:off x="1665514"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W18</a:t>
            </a:r>
            <a:endParaRPr lang="en-US" sz="800" dirty="0"/>
          </a:p>
        </p:txBody>
      </p:sp>
      <p:sp>
        <p:nvSpPr>
          <p:cNvPr id="105" name="Text 103"/>
          <p:cNvSpPr/>
          <p:nvPr/>
        </p:nvSpPr>
        <p:spPr>
          <a:xfrm>
            <a:off x="1972491"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W19</a:t>
            </a:r>
            <a:endParaRPr lang="en-US" sz="800" dirty="0"/>
          </a:p>
        </p:txBody>
      </p:sp>
      <p:sp>
        <p:nvSpPr>
          <p:cNvPr id="106" name="Text 104"/>
          <p:cNvSpPr/>
          <p:nvPr/>
        </p:nvSpPr>
        <p:spPr>
          <a:xfrm>
            <a:off x="2279469"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W20</a:t>
            </a:r>
            <a:endParaRPr lang="en-US" sz="800" dirty="0"/>
          </a:p>
        </p:txBody>
      </p:sp>
      <p:sp>
        <p:nvSpPr>
          <p:cNvPr id="107" name="Text 105"/>
          <p:cNvSpPr/>
          <p:nvPr/>
        </p:nvSpPr>
        <p:spPr>
          <a:xfrm>
            <a:off x="2586446"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W21</a:t>
            </a:r>
            <a:endParaRPr lang="en-US" sz="800" dirty="0"/>
          </a:p>
        </p:txBody>
      </p:sp>
      <p:sp>
        <p:nvSpPr>
          <p:cNvPr id="108" name="Text 106"/>
          <p:cNvSpPr/>
          <p:nvPr/>
        </p:nvSpPr>
        <p:spPr>
          <a:xfrm>
            <a:off x="2893423"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W22</a:t>
            </a:r>
            <a:endParaRPr lang="en-US" sz="800" dirty="0"/>
          </a:p>
        </p:txBody>
      </p:sp>
      <p:sp>
        <p:nvSpPr>
          <p:cNvPr id="109" name="Text 107"/>
          <p:cNvSpPr/>
          <p:nvPr/>
        </p:nvSpPr>
        <p:spPr>
          <a:xfrm>
            <a:off x="3200400"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W23</a:t>
            </a:r>
            <a:endParaRPr lang="en-US" sz="800" dirty="0"/>
          </a:p>
        </p:txBody>
      </p:sp>
      <p:sp>
        <p:nvSpPr>
          <p:cNvPr id="110" name="Text 108"/>
          <p:cNvSpPr/>
          <p:nvPr/>
        </p:nvSpPr>
        <p:spPr>
          <a:xfrm>
            <a:off x="3507377"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W24</a:t>
            </a:r>
            <a:endParaRPr lang="en-US" sz="800" dirty="0"/>
          </a:p>
        </p:txBody>
      </p:sp>
      <p:sp>
        <p:nvSpPr>
          <p:cNvPr id="111" name="Text 109"/>
          <p:cNvSpPr/>
          <p:nvPr/>
        </p:nvSpPr>
        <p:spPr>
          <a:xfrm>
            <a:off x="3814354"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W25</a:t>
            </a:r>
            <a:endParaRPr lang="en-US" sz="800" dirty="0"/>
          </a:p>
        </p:txBody>
      </p:sp>
      <p:sp>
        <p:nvSpPr>
          <p:cNvPr id="112" name="Text 110"/>
          <p:cNvSpPr/>
          <p:nvPr/>
        </p:nvSpPr>
        <p:spPr>
          <a:xfrm>
            <a:off x="4121331"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W26</a:t>
            </a:r>
            <a:endParaRPr lang="en-US" sz="800" dirty="0"/>
          </a:p>
        </p:txBody>
      </p:sp>
      <p:sp>
        <p:nvSpPr>
          <p:cNvPr id="113" name="Text 111"/>
          <p:cNvSpPr/>
          <p:nvPr/>
        </p:nvSpPr>
        <p:spPr>
          <a:xfrm>
            <a:off x="4428309"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W27</a:t>
            </a:r>
            <a:endParaRPr lang="en-US" sz="800" dirty="0"/>
          </a:p>
        </p:txBody>
      </p:sp>
      <p:sp>
        <p:nvSpPr>
          <p:cNvPr id="114" name="Text 112"/>
          <p:cNvSpPr/>
          <p:nvPr/>
        </p:nvSpPr>
        <p:spPr>
          <a:xfrm>
            <a:off x="4735286"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W28</a:t>
            </a:r>
            <a:endParaRPr lang="en-US" sz="800" dirty="0"/>
          </a:p>
        </p:txBody>
      </p:sp>
      <p:sp>
        <p:nvSpPr>
          <p:cNvPr id="115" name="Text 113"/>
          <p:cNvSpPr/>
          <p:nvPr/>
        </p:nvSpPr>
        <p:spPr>
          <a:xfrm>
            <a:off x="5042263"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W29</a:t>
            </a:r>
            <a:endParaRPr lang="en-US" sz="800" dirty="0"/>
          </a:p>
        </p:txBody>
      </p:sp>
      <p:sp>
        <p:nvSpPr>
          <p:cNvPr id="116" name="Text 114"/>
          <p:cNvSpPr/>
          <p:nvPr/>
        </p:nvSpPr>
        <p:spPr>
          <a:xfrm>
            <a:off x="5349240"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W30</a:t>
            </a:r>
            <a:endParaRPr lang="en-US" sz="800" dirty="0"/>
          </a:p>
        </p:txBody>
      </p:sp>
      <p:sp>
        <p:nvSpPr>
          <p:cNvPr id="117" name="Text 115"/>
          <p:cNvSpPr/>
          <p:nvPr/>
        </p:nvSpPr>
        <p:spPr>
          <a:xfrm>
            <a:off x="5656217"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W31</a:t>
            </a:r>
            <a:endParaRPr lang="en-US" sz="800" dirty="0"/>
          </a:p>
        </p:txBody>
      </p:sp>
      <p:sp>
        <p:nvSpPr>
          <p:cNvPr id="118" name="Text 116"/>
          <p:cNvSpPr/>
          <p:nvPr/>
        </p:nvSpPr>
        <p:spPr>
          <a:xfrm>
            <a:off x="5963194"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W32</a:t>
            </a:r>
            <a:endParaRPr lang="en-US" sz="800" dirty="0"/>
          </a:p>
        </p:txBody>
      </p:sp>
      <p:sp>
        <p:nvSpPr>
          <p:cNvPr id="119" name="Text 117"/>
          <p:cNvSpPr/>
          <p:nvPr/>
        </p:nvSpPr>
        <p:spPr>
          <a:xfrm>
            <a:off x="6270171"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W33</a:t>
            </a:r>
            <a:endParaRPr lang="en-US" sz="800" dirty="0"/>
          </a:p>
        </p:txBody>
      </p:sp>
      <p:sp>
        <p:nvSpPr>
          <p:cNvPr id="120" name="Text 118"/>
          <p:cNvSpPr/>
          <p:nvPr/>
        </p:nvSpPr>
        <p:spPr>
          <a:xfrm>
            <a:off x="6577149"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W34</a:t>
            </a:r>
            <a:endParaRPr lang="en-US" sz="800" dirty="0"/>
          </a:p>
        </p:txBody>
      </p:sp>
      <p:sp>
        <p:nvSpPr>
          <p:cNvPr id="121" name="Text 119"/>
          <p:cNvSpPr/>
          <p:nvPr/>
        </p:nvSpPr>
        <p:spPr>
          <a:xfrm>
            <a:off x="6884126"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W35</a:t>
            </a:r>
            <a:endParaRPr lang="en-US" sz="800" dirty="0"/>
          </a:p>
        </p:txBody>
      </p:sp>
      <p:sp>
        <p:nvSpPr>
          <p:cNvPr id="122" name="Text 120"/>
          <p:cNvSpPr/>
          <p:nvPr/>
        </p:nvSpPr>
        <p:spPr>
          <a:xfrm>
            <a:off x="7191103" y="5376672"/>
            <a:ext cx="306977" cy="201168"/>
          </a:xfrm>
          <a:prstGeom prst="rect">
            <a:avLst/>
          </a:prstGeom>
          <a:noFill/>
          <a:ln/>
        </p:spPr>
        <p:txBody>
          <a:bodyPr wrap="square" rtlCol="0" anchor="ctr"/>
          <a:lstStyle/>
          <a:p>
            <a:pPr algn="ctr" indent="0" marL="0">
              <a:buNone/>
            </a:pPr>
            <a:r>
              <a:rPr lang="en-US" sz="800" dirty="0">
                <a:solidFill>
                  <a:srgbClr val="595959"/>
                </a:solidFill>
                <a:latin typeface="Calibri" pitchFamily="34" charset="0"/>
                <a:ea typeface="Calibri" pitchFamily="34" charset="-122"/>
                <a:cs typeface="Calibri" pitchFamily="34" charset="-120"/>
              </a:rPr>
              <a:t>W36</a:t>
            </a:r>
            <a:endParaRPr lang="en-US" sz="800" dirty="0"/>
          </a:p>
        </p:txBody>
      </p:sp>
      <p:sp>
        <p:nvSpPr>
          <p:cNvPr id="123" name="Text 121"/>
          <p:cNvSpPr/>
          <p:nvPr/>
        </p:nvSpPr>
        <p:spPr>
          <a:xfrm>
            <a:off x="1051560" y="5586984"/>
            <a:ext cx="6446520" cy="201168"/>
          </a:xfrm>
          <a:prstGeom prst="rect">
            <a:avLst/>
          </a:prstGeom>
          <a:noFill/>
          <a:ln/>
        </p:spPr>
        <p:txBody>
          <a:bodyPr wrap="square" rtlCol="0" anchor="ctr"/>
          <a:lstStyle/>
          <a:p>
            <a:pPr algn="ctr" indent="0" marL="0">
              <a:buNone/>
            </a:pPr>
            <a:r>
              <a:rPr lang="en-US" sz="900" i="1" dirty="0">
                <a:solidFill>
                  <a:srgbClr val="595959"/>
                </a:solidFill>
                <a:latin typeface="Calibri" pitchFamily="34" charset="0"/>
                <a:ea typeface="Calibri" pitchFamily="34" charset="-122"/>
                <a:cs typeface="Calibri" pitchFamily="34" charset="-120"/>
              </a:rPr>
              <a:t>ISO week, 2026</a:t>
            </a:r>
            <a:endParaRPr lang="en-US" sz="900" dirty="0"/>
          </a:p>
        </p:txBody>
      </p:sp>
      <p:sp>
        <p:nvSpPr>
          <p:cNvPr id="124" name="Shape 122"/>
          <p:cNvSpPr/>
          <p:nvPr/>
        </p:nvSpPr>
        <p:spPr>
          <a:xfrm>
            <a:off x="1188720" y="1618488"/>
            <a:ext cx="201168" cy="128016"/>
          </a:xfrm>
          <a:prstGeom prst="rect">
            <a:avLst/>
          </a:prstGeom>
          <a:solidFill>
            <a:srgbClr val="2E75B6"/>
          </a:solidFill>
          <a:ln w="12700">
            <a:solidFill>
              <a:srgbClr val="2E75B6"/>
            </a:solidFill>
            <a:prstDash val="solid"/>
          </a:ln>
        </p:spPr>
      </p:sp>
      <p:sp>
        <p:nvSpPr>
          <p:cNvPr id="125" name="Text 123"/>
          <p:cNvSpPr/>
          <p:nvPr/>
        </p:nvSpPr>
        <p:spPr>
          <a:xfrm>
            <a:off x="1435608" y="1554480"/>
            <a:ext cx="3840480" cy="256032"/>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Rust functions verified that week (left axis)</a:t>
            </a:r>
            <a:endParaRPr lang="en-US" sz="900" dirty="0"/>
          </a:p>
        </p:txBody>
      </p:sp>
      <p:sp>
        <p:nvSpPr>
          <p:cNvPr id="126" name="Shape 124"/>
          <p:cNvSpPr/>
          <p:nvPr/>
        </p:nvSpPr>
        <p:spPr>
          <a:xfrm>
            <a:off x="1188720" y="1947672"/>
            <a:ext cx="201168" cy="0"/>
          </a:xfrm>
          <a:prstGeom prst="line">
            <a:avLst/>
          </a:prstGeom>
          <a:noFill/>
          <a:ln w="28575">
            <a:solidFill>
              <a:srgbClr val="1F3864"/>
            </a:solidFill>
            <a:prstDash val="solid"/>
          </a:ln>
        </p:spPr>
      </p:sp>
      <p:sp>
        <p:nvSpPr>
          <p:cNvPr id="127" name="Shape 125"/>
          <p:cNvSpPr/>
          <p:nvPr/>
        </p:nvSpPr>
        <p:spPr>
          <a:xfrm>
            <a:off x="1243584" y="1901952"/>
            <a:ext cx="91440" cy="91440"/>
          </a:xfrm>
          <a:prstGeom prst="ellipse">
            <a:avLst/>
          </a:prstGeom>
          <a:solidFill>
            <a:srgbClr val="1F3864"/>
          </a:solidFill>
          <a:ln w="12700">
            <a:solidFill>
              <a:srgbClr val="1F3864"/>
            </a:solidFill>
            <a:prstDash val="solid"/>
          </a:ln>
        </p:spPr>
      </p:sp>
      <p:sp>
        <p:nvSpPr>
          <p:cNvPr id="128" name="Text 126"/>
          <p:cNvSpPr/>
          <p:nvPr/>
        </p:nvSpPr>
        <p:spPr>
          <a:xfrm>
            <a:off x="1435608" y="1819656"/>
            <a:ext cx="3840480" cy="256032"/>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Cumulative verified Rust functions (right axis)</a:t>
            </a:r>
            <a:endParaRPr lang="en-US" sz="900" dirty="0"/>
          </a:p>
        </p:txBody>
      </p:sp>
      <p:sp>
        <p:nvSpPr>
          <p:cNvPr id="129" name="Text 127"/>
          <p:cNvSpPr/>
          <p:nvPr/>
        </p:nvSpPr>
        <p:spPr>
          <a:xfrm>
            <a:off x="8321040" y="1371600"/>
            <a:ext cx="347472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Milestones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321040" y="1691640"/>
          <a:ext cx="3474720" cy="914400"/>
        </p:xfrm>
        <a:graphic>
          <a:graphicData uri="http://schemas.openxmlformats.org/drawingml/2006/table">
            <a:tbl>
              <a:tblPr/>
              <a:tblGrid>
                <a:gridCol w="640080"/>
                <a:gridCol w="548640"/>
                <a:gridCol w="228600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Wk</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Cum.</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Milestone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W16</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First proofs: basic field arithmetic, Pt / Poly byte encoding</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W21</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GF16 constants and constant-time operations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W23</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gf.rs finished (division, parallel multiply)</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W27–28</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67</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Lagrange interpolation core (Slide 5)</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W31</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Polynomial decoder, chunk byte format</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W32</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Polynomial encoder, add_chunk (Slide 6), protobuf round-trips, lib.rs API</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W34</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136</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Authenticator, ChainParams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W35–36</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147</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KeyHistory, including gc (Slide 7)</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bl>
          </a:graphicData>
        </a:graphic>
      </p:graphicFrame>
      <p:sp>
        <p:nvSpPr>
          <p:cNvPr id="131" name="Text 128"/>
          <p:cNvSpPr/>
          <p:nvPr/>
        </p:nvSpPr>
        <p:spPr>
          <a:xfrm>
            <a:off x="548640" y="5897880"/>
            <a:ext cx="11064240" cy="502920"/>
          </a:xfrm>
          <a:prstGeom prst="rect">
            <a:avLst/>
          </a:prstGeom>
          <a:noFill/>
          <a:ln/>
        </p:spPr>
        <p:txBody>
          <a:bodyPr wrap="square" rtlCol="0" anchor="t"/>
          <a:lstStyle/>
          <a:p>
            <a:pPr indent="0" marL="0">
              <a:buNone/>
            </a:pPr>
            <a:r>
              <a:rPr lang="en-US" sz="1100" dirty="0">
                <a:solidFill>
                  <a:srgbClr val="222222"/>
                </a:solidFill>
                <a:latin typeface="Calibri" pitchFamily="34" charset="0"/>
                <a:ea typeface="Calibri" pitchFamily="34" charset="-122"/>
                <a:cs typeface="Calibri" pitchFamily="34" charset="-120"/>
              </a:rPr>
              <a:t>How we counted: for each of the 147 functions that has a theorem today, we looked up the week its theorem file was first added to git. The quiet weeks (W17–W19, W22) were spent on groundwork: setting up the translator and building the GF(2¹⁶) field in Lean. The W32 jump is the encoder and the protobuf round-trips landing together.</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4 · File-by-file report</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Four areas: field arithmetic (done), polynomial coding (done), key chain (in progress), byte formats (mostly done).</a:t>
            </a:r>
            <a:endParaRPr lang="en-US" sz="1400" dirty="0"/>
          </a:p>
        </p:txBody>
      </p:sp>
      <p:sp>
        <p:nvSpPr>
          <p:cNvPr id="4" name="Shape 2"/>
          <p:cNvSpPr/>
          <p:nvPr/>
        </p:nvSpPr>
        <p:spPr>
          <a:xfrm>
            <a:off x="548640" y="1371600"/>
            <a:ext cx="5440680" cy="2240280"/>
          </a:xfrm>
          <a:prstGeom prst="rect">
            <a:avLst/>
          </a:prstGeom>
          <a:solidFill>
            <a:srgbClr val="FAFAFA"/>
          </a:solidFill>
          <a:ln w="9525">
            <a:solidFill>
              <a:srgbClr val="BFBFBF"/>
            </a:solidFill>
            <a:prstDash val="solid"/>
          </a:ln>
        </p:spPr>
      </p:sp>
      <p:sp>
        <p:nvSpPr>
          <p:cNvPr id="5" name="Shape 3"/>
          <p:cNvSpPr/>
          <p:nvPr/>
        </p:nvSpPr>
        <p:spPr>
          <a:xfrm>
            <a:off x="548640" y="1371600"/>
            <a:ext cx="5440680" cy="365760"/>
          </a:xfrm>
          <a:prstGeom prst="rect">
            <a:avLst/>
          </a:prstGeom>
          <a:solidFill>
            <a:srgbClr val="548235"/>
          </a:solidFill>
          <a:ln/>
        </p:spPr>
      </p:sp>
      <p:sp>
        <p:nvSpPr>
          <p:cNvPr id="6" name="Text 4"/>
          <p:cNvSpPr/>
          <p:nvPr/>
        </p:nvSpPr>
        <p:spPr>
          <a:xfrm>
            <a:off x="640080" y="1371600"/>
            <a:ext cx="3520440" cy="365760"/>
          </a:xfrm>
          <a:prstGeom prst="rect">
            <a:avLst/>
          </a:prstGeom>
          <a:noFill/>
          <a:ln/>
        </p:spPr>
        <p:txBody>
          <a:bodyPr wrap="square" rtlCol="0" anchor="ctr">
            <a:normAutofit/>
          </a:bodyPr>
          <a:lstStyle/>
          <a:p>
            <a:pPr indent="0" marL="0">
              <a:buNone/>
            </a:pPr>
            <a:r>
              <a:rPr lang="en-US" sz="1200" b="1" dirty="0">
                <a:solidFill>
                  <a:srgbClr val="FFFFFF"/>
                </a:solidFill>
                <a:latin typeface="Consolas" pitchFamily="34" charset="0"/>
                <a:ea typeface="Consolas" pitchFamily="34" charset="-122"/>
                <a:cs typeface="Consolas" pitchFamily="34" charset="-120"/>
              </a:rPr>
              <a:t>src/encoding/gf.rs</a:t>
            </a:r>
            <a:endParaRPr lang="en-US" sz="1200" dirty="0"/>
          </a:p>
        </p:txBody>
      </p:sp>
      <p:sp>
        <p:nvSpPr>
          <p:cNvPr id="7" name="Text 5"/>
          <p:cNvSpPr/>
          <p:nvPr/>
        </p:nvSpPr>
        <p:spPr>
          <a:xfrm>
            <a:off x="4160520" y="1371600"/>
            <a:ext cx="169164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13 / 13</a:t>
            </a:r>
            <a:endParaRPr lang="en-US" sz="1100" dirty="0"/>
          </a:p>
        </p:txBody>
      </p:sp>
      <p:sp>
        <p:nvSpPr>
          <p:cNvPr id="8" name="Text 6"/>
          <p:cNvSpPr/>
          <p:nvPr/>
        </p:nvSpPr>
        <p:spPr>
          <a:xfrm>
            <a:off x="594360" y="1783080"/>
            <a:ext cx="5349240" cy="178308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it does: add, multiply and divide 16-bit numbers in the finite field GF(2¹⁶). Everything else is built on this.</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we proved: Lean knows this field as a real Mathlib Field. Every Rust operation is proved equal to the textbook field operation — including the 256-entry lookup table and the fast multiply tricks.</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Key theorems: reduce_bytes_spec (the whole table is right), div_impl_spec (division is really the inverse), mul2_u16_spec.</a:t>
            </a:r>
            <a:endParaRPr lang="en-US" sz="1100" dirty="0"/>
          </a:p>
        </p:txBody>
      </p:sp>
      <p:sp>
        <p:nvSpPr>
          <p:cNvPr id="9" name="Shape 7"/>
          <p:cNvSpPr/>
          <p:nvPr/>
        </p:nvSpPr>
        <p:spPr>
          <a:xfrm>
            <a:off x="6172200" y="1371600"/>
            <a:ext cx="5440680" cy="2240280"/>
          </a:xfrm>
          <a:prstGeom prst="rect">
            <a:avLst/>
          </a:prstGeom>
          <a:solidFill>
            <a:srgbClr val="FAFAFA"/>
          </a:solidFill>
          <a:ln w="9525">
            <a:solidFill>
              <a:srgbClr val="BFBFBF"/>
            </a:solidFill>
            <a:prstDash val="solid"/>
          </a:ln>
        </p:spPr>
      </p:sp>
      <p:sp>
        <p:nvSpPr>
          <p:cNvPr id="10" name="Shape 8"/>
          <p:cNvSpPr/>
          <p:nvPr/>
        </p:nvSpPr>
        <p:spPr>
          <a:xfrm>
            <a:off x="6172200" y="1371600"/>
            <a:ext cx="5440680" cy="365760"/>
          </a:xfrm>
          <a:prstGeom prst="rect">
            <a:avLst/>
          </a:prstGeom>
          <a:solidFill>
            <a:srgbClr val="548235"/>
          </a:solidFill>
          <a:ln/>
        </p:spPr>
      </p:sp>
      <p:sp>
        <p:nvSpPr>
          <p:cNvPr id="11" name="Text 9"/>
          <p:cNvSpPr/>
          <p:nvPr/>
        </p:nvSpPr>
        <p:spPr>
          <a:xfrm>
            <a:off x="6263640" y="1371600"/>
            <a:ext cx="3520440" cy="365760"/>
          </a:xfrm>
          <a:prstGeom prst="rect">
            <a:avLst/>
          </a:prstGeom>
          <a:noFill/>
          <a:ln/>
        </p:spPr>
        <p:txBody>
          <a:bodyPr wrap="square" rtlCol="0" anchor="ctr">
            <a:normAutofit/>
          </a:bodyPr>
          <a:lstStyle/>
          <a:p>
            <a:pPr indent="0" marL="0">
              <a:buNone/>
            </a:pPr>
            <a:r>
              <a:rPr lang="en-US" sz="1200" b="1" dirty="0">
                <a:solidFill>
                  <a:srgbClr val="FFFFFF"/>
                </a:solidFill>
                <a:latin typeface="Consolas" pitchFamily="34" charset="0"/>
                <a:ea typeface="Consolas" pitchFamily="34" charset="-122"/>
                <a:cs typeface="Consolas" pitchFamily="34" charset="-120"/>
              </a:rPr>
              <a:t>src/encoding/polynomial.rs  (+ encoding.rs)</a:t>
            </a:r>
            <a:endParaRPr lang="en-US" sz="1200" dirty="0"/>
          </a:p>
        </p:txBody>
      </p:sp>
      <p:sp>
        <p:nvSpPr>
          <p:cNvPr id="12" name="Text 10"/>
          <p:cNvSpPr/>
          <p:nvPr/>
        </p:nvSpPr>
        <p:spPr>
          <a:xfrm>
            <a:off x="9784080" y="1371600"/>
            <a:ext cx="169164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32 / 32</a:t>
            </a:r>
            <a:endParaRPr lang="en-US" sz="1100" dirty="0"/>
          </a:p>
        </p:txBody>
      </p:sp>
      <p:sp>
        <p:nvSpPr>
          <p:cNvPr id="13" name="Text 11"/>
          <p:cNvSpPr/>
          <p:nvPr/>
        </p:nvSpPr>
        <p:spPr>
          <a:xfrm>
            <a:off x="6217920" y="1783080"/>
            <a:ext cx="5349240" cy="178308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it does: the error-correcting code. The key is split into 16 streams of numbers; each stream defines a polynomial; chunk k is those 16 polynomials evaluated at x = k.</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we proved: a math library of 110 lemmas about polynomials and Lagrange interpolation, and theorems for every function — encoder, decoder and the byte format.</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Key theorems: lagrange_interpolate (Slide 5), from_complete_points, PolyEncoder::chunk_at, PolyDecoder::add_chunk and its Option&lt;T&gt; wrapper (Slide 6).</a:t>
            </a:r>
            <a:endParaRPr lang="en-US" sz="1100" dirty="0"/>
          </a:p>
        </p:txBody>
      </p:sp>
      <p:sp>
        <p:nvSpPr>
          <p:cNvPr id="14" name="Shape 12"/>
          <p:cNvSpPr/>
          <p:nvPr/>
        </p:nvSpPr>
        <p:spPr>
          <a:xfrm>
            <a:off x="548640" y="3703320"/>
            <a:ext cx="5440680" cy="2331720"/>
          </a:xfrm>
          <a:prstGeom prst="rect">
            <a:avLst/>
          </a:prstGeom>
          <a:solidFill>
            <a:srgbClr val="FAFAFA"/>
          </a:solidFill>
          <a:ln w="9525">
            <a:solidFill>
              <a:srgbClr val="BFBFBF"/>
            </a:solidFill>
            <a:prstDash val="solid"/>
          </a:ln>
        </p:spPr>
      </p:sp>
      <p:sp>
        <p:nvSpPr>
          <p:cNvPr id="15" name="Shape 13"/>
          <p:cNvSpPr/>
          <p:nvPr/>
        </p:nvSpPr>
        <p:spPr>
          <a:xfrm>
            <a:off x="548640" y="3703320"/>
            <a:ext cx="5440680" cy="365760"/>
          </a:xfrm>
          <a:prstGeom prst="rect">
            <a:avLst/>
          </a:prstGeom>
          <a:solidFill>
            <a:srgbClr val="BF9000"/>
          </a:solidFill>
          <a:ln/>
        </p:spPr>
      </p:sp>
      <p:sp>
        <p:nvSpPr>
          <p:cNvPr id="16" name="Text 14"/>
          <p:cNvSpPr/>
          <p:nvPr/>
        </p:nvSpPr>
        <p:spPr>
          <a:xfrm>
            <a:off x="640080" y="3703320"/>
            <a:ext cx="3520440" cy="365760"/>
          </a:xfrm>
          <a:prstGeom prst="rect">
            <a:avLst/>
          </a:prstGeom>
          <a:noFill/>
          <a:ln/>
        </p:spPr>
        <p:txBody>
          <a:bodyPr wrap="square" rtlCol="0" anchor="ctr">
            <a:normAutofit/>
          </a:bodyPr>
          <a:lstStyle/>
          <a:p>
            <a:pPr indent="0" marL="0">
              <a:buNone/>
            </a:pPr>
            <a:r>
              <a:rPr lang="en-US" sz="1200" b="1" dirty="0">
                <a:solidFill>
                  <a:srgbClr val="FFFFFF"/>
                </a:solidFill>
                <a:latin typeface="Consolas" pitchFamily="34" charset="0"/>
                <a:ea typeface="Consolas" pitchFamily="34" charset="-122"/>
                <a:cs typeface="Consolas" pitchFamily="34" charset="-120"/>
              </a:rPr>
              <a:t>src/chain.rs</a:t>
            </a:r>
            <a:endParaRPr lang="en-US" sz="1200" dirty="0"/>
          </a:p>
        </p:txBody>
      </p:sp>
      <p:sp>
        <p:nvSpPr>
          <p:cNvPr id="17" name="Text 15"/>
          <p:cNvSpPr/>
          <p:nvPr/>
        </p:nvSpPr>
        <p:spPr>
          <a:xfrm>
            <a:off x="4160520" y="3703320"/>
            <a:ext cx="169164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11 / 25 (44 %)</a:t>
            </a:r>
            <a:endParaRPr lang="en-US" sz="1100" dirty="0"/>
          </a:p>
        </p:txBody>
      </p:sp>
      <p:sp>
        <p:nvSpPr>
          <p:cNvPr id="18" name="Text 16"/>
          <p:cNvSpPr/>
          <p:nvPr/>
        </p:nvSpPr>
        <p:spPr>
          <a:xfrm>
            <a:off x="594360" y="4114800"/>
            <a:ext cx="5349240" cy="187452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it does: derives the message keys, one after another, and keeps a small history of skipped keys so late messages can still be read. Old entries are garbage-collected.</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Done: all of ChainParams, and all of KeyHistory (new, add, remove, gc, get, clear).</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Next: ChainEpochDirection (next_key, key, protobuf conversion) and the top-level Chain (add_epoch, send_key, recv_key).</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Highlight: gc_spec proves the garbage collector keeps exactly the live keys, no more and no less (Slide 7).</a:t>
            </a:r>
            <a:endParaRPr lang="en-US" sz="1100" dirty="0"/>
          </a:p>
        </p:txBody>
      </p:sp>
      <p:sp>
        <p:nvSpPr>
          <p:cNvPr id="19" name="Shape 17"/>
          <p:cNvSpPr/>
          <p:nvPr/>
        </p:nvSpPr>
        <p:spPr>
          <a:xfrm>
            <a:off x="6172200" y="3703320"/>
            <a:ext cx="5440680" cy="2331720"/>
          </a:xfrm>
          <a:prstGeom prst="rect">
            <a:avLst/>
          </a:prstGeom>
          <a:solidFill>
            <a:srgbClr val="FAFAFA"/>
          </a:solidFill>
          <a:ln w="9525">
            <a:solidFill>
              <a:srgbClr val="BFBFBF"/>
            </a:solidFill>
            <a:prstDash val="solid"/>
          </a:ln>
        </p:spPr>
      </p:sp>
      <p:sp>
        <p:nvSpPr>
          <p:cNvPr id="20" name="Shape 18"/>
          <p:cNvSpPr/>
          <p:nvPr/>
        </p:nvSpPr>
        <p:spPr>
          <a:xfrm>
            <a:off x="6172200" y="3703320"/>
            <a:ext cx="5440680" cy="365760"/>
          </a:xfrm>
          <a:prstGeom prst="rect">
            <a:avLst/>
          </a:prstGeom>
          <a:solidFill>
            <a:srgbClr val="2E75B6"/>
          </a:solidFill>
          <a:ln/>
        </p:spPr>
      </p:sp>
      <p:sp>
        <p:nvSpPr>
          <p:cNvPr id="21" name="Text 19"/>
          <p:cNvSpPr/>
          <p:nvPr/>
        </p:nvSpPr>
        <p:spPr>
          <a:xfrm>
            <a:off x="6263640" y="3703320"/>
            <a:ext cx="3520440" cy="365760"/>
          </a:xfrm>
          <a:prstGeom prst="rect">
            <a:avLst/>
          </a:prstGeom>
          <a:noFill/>
          <a:ln/>
        </p:spPr>
        <p:txBody>
          <a:bodyPr wrap="square" rtlCol="0" anchor="ctr">
            <a:normAutofit/>
          </a:bodyPr>
          <a:lstStyle/>
          <a:p>
            <a:pPr indent="0" marL="0">
              <a:buNone/>
            </a:pPr>
            <a:r>
              <a:rPr lang="en-US" sz="1200" b="1" dirty="0">
                <a:solidFill>
                  <a:srgbClr val="FFFFFF"/>
                </a:solidFill>
                <a:latin typeface="Consolas" pitchFamily="34" charset="0"/>
                <a:ea typeface="Consolas" pitchFamily="34" charset="-122"/>
                <a:cs typeface="Consolas" pitchFamily="34" charset="-120"/>
              </a:rPr>
              <a:t>serialize.rs · v1/**/serialize.rs · authenticator/serialize.rs</a:t>
            </a:r>
            <a:endParaRPr lang="en-US" sz="1200" dirty="0"/>
          </a:p>
        </p:txBody>
      </p:sp>
      <p:sp>
        <p:nvSpPr>
          <p:cNvPr id="22" name="Text 20"/>
          <p:cNvSpPr/>
          <p:nvPr/>
        </p:nvSpPr>
        <p:spPr>
          <a:xfrm>
            <a:off x="9784080" y="3703320"/>
            <a:ext cx="1691640" cy="365760"/>
          </a:xfrm>
          <a:prstGeom prst="rect">
            <a:avLst/>
          </a:prstGeom>
          <a:noFill/>
          <a:ln/>
        </p:spPr>
        <p:txBody>
          <a:bodyPr wrap="square"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 32 / 39</a:t>
            </a:r>
            <a:endParaRPr lang="en-US" sz="1100" dirty="0"/>
          </a:p>
        </p:txBody>
      </p:sp>
      <p:sp>
        <p:nvSpPr>
          <p:cNvPr id="23" name="Text 21"/>
          <p:cNvSpPr/>
          <p:nvPr/>
        </p:nvSpPr>
        <p:spPr>
          <a:xfrm>
            <a:off x="6217920" y="4114800"/>
            <a:ext cx="5349240" cy="187452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it does: turns state and messages into bytes and back — a small hand-written wire format plus protobuf conversions for every state struct.</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Done: varint and chunk encoding, Message serialize / deserialize, and all 18 protobuf conversions of the unchunked states.</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Remaining: 10 protobuf conversions for the chunked states, and the top-level States conversion.</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Typical theorem: decoding what you encoded gives back exactly what you started with, plus exact byte-length bounds.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5 · A complex function in polynomial.rs: Poly::lagrange_interpolate</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Left: the math. Right: the theorem Lean checked about the real Rust code. They say the same thing — through n given points there is exactly one polynomial, and the code finds it.</a:t>
            </a:r>
            <a:endParaRPr lang="en-US" sz="1400" dirty="0"/>
          </a:p>
        </p:txBody>
      </p:sp>
      <p:sp>
        <p:nvSpPr>
          <p:cNvPr id="4" name="Text 2"/>
          <p:cNvSpPr/>
          <p:nvPr/>
        </p:nvSpPr>
        <p:spPr>
          <a:xfrm>
            <a:off x="548640" y="1371600"/>
            <a:ext cx="11064240" cy="365760"/>
          </a:xfrm>
          <a:prstGeom prst="rect">
            <a:avLst/>
          </a:prstGeom>
          <a:solidFill>
            <a:srgbClr val="F2F2F2"/>
          </a:solidFill>
          <a:ln/>
        </p:spPr>
        <p:txBody>
          <a:bodyPr wrap="square" lIns="101600" tIns="101600" rIns="101600" bIns="101600" rtlCol="0" anchor="t"/>
          <a:lstStyle/>
          <a:p>
            <a:pPr indent="0" marL="0">
              <a:buNone/>
            </a:pPr>
            <a:r>
              <a:rPr lang="en-US" sz="1100" dirty="0">
                <a:solidFill>
                  <a:srgbClr val="1E1E1E"/>
                </a:solidFill>
                <a:latin typeface="Consolas" pitchFamily="34" charset="0"/>
                <a:ea typeface="Consolas" pitchFamily="34" charset="-122"/>
                <a:cs typeface="Consolas" pitchFamily="34" charset="-120"/>
              </a:rPr>
              <a:t>fn lagrange_interpolate(pts: &amp;[Pt]) -&gt; Poly   // "return a Poly with f(pts[i].x) == pts[i].y for all i; O(N²) work, O(N) space"</a:t>
            </a:r>
            <a:endParaRPr lang="en-US" sz="1100" dirty="0"/>
          </a:p>
        </p:txBody>
      </p:sp>
      <p:sp>
        <p:nvSpPr>
          <p:cNvPr id="5" name="Text 3"/>
          <p:cNvSpPr/>
          <p:nvPr/>
        </p:nvSpPr>
        <p:spPr>
          <a:xfrm>
            <a:off x="548640" y="18288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The math, in words</a:t>
            </a:r>
            <a:endParaRPr lang="en-US" sz="1400" dirty="0"/>
          </a:p>
        </p:txBody>
      </p:sp>
      <p:sp>
        <p:nvSpPr>
          <p:cNvPr id="6" name="Text 4"/>
          <p:cNvSpPr/>
          <p:nvPr/>
        </p:nvSpPr>
        <p:spPr>
          <a:xfrm>
            <a:off x="548640" y="2148840"/>
            <a:ext cx="5394960" cy="41148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Take n points (xᵢ, yᵢ) with different x values. There is exactly one polynomial of degree below n passing through all of them:</a:t>
            </a:r>
            <a:endParaRPr lang="en-US" sz="1200" dirty="0"/>
          </a:p>
        </p:txBody>
      </p:sp>
      <p:sp>
        <p:nvSpPr>
          <p:cNvPr id="7" name="Text 5"/>
          <p:cNvSpPr/>
          <p:nvPr/>
        </p:nvSpPr>
        <p:spPr>
          <a:xfrm>
            <a:off x="548640" y="2560320"/>
            <a:ext cx="5394960" cy="365760"/>
          </a:xfrm>
          <a:prstGeom prst="rect">
            <a:avLst/>
          </a:prstGeom>
          <a:solidFill>
            <a:srgbClr val="F2F2F2"/>
          </a:solidFill>
          <a:ln/>
        </p:spPr>
        <p:txBody>
          <a:bodyPr wrap="square" lIns="101600" tIns="101600" rIns="101600" bIns="101600" rtlCol="0" anchor="t"/>
          <a:lstStyle/>
          <a:p>
            <a:pPr indent="0" marL="0">
              <a:buNone/>
            </a:pPr>
            <a:r>
              <a:rPr lang="en-US" sz="1100" dirty="0">
                <a:solidFill>
                  <a:srgbClr val="1E1E1E"/>
                </a:solidFill>
                <a:latin typeface="Consolas" pitchFamily="34" charset="0"/>
                <a:ea typeface="Consolas" pitchFamily="34" charset="-122"/>
                <a:cs typeface="Consolas" pitchFamily="34" charset="-120"/>
              </a:rPr>
              <a:t>L(x) = Σᵢ yᵢ · ℓᵢ(x),      ℓᵢ(x) = Πⱼ≠ᵢ (x − xⱼ) / (xᵢ − xⱼ)</a:t>
            </a:r>
            <a:endParaRPr lang="en-US" sz="1100" dirty="0"/>
          </a:p>
        </p:txBody>
      </p:sp>
      <p:sp>
        <p:nvSpPr>
          <p:cNvPr id="8" name="Text 6"/>
          <p:cNvSpPr/>
          <p:nvPr/>
        </p:nvSpPr>
        <p:spPr>
          <a:xfrm>
            <a:off x="548640" y="2971800"/>
            <a:ext cx="5394960" cy="32004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The Rust code gets there by a shortcut that avoids division and repeated work:</a:t>
            </a:r>
            <a:endParaRPr lang="en-US" sz="1200" dirty="0"/>
          </a:p>
        </p:txBody>
      </p:sp>
      <p:sp>
        <p:nvSpPr>
          <p:cNvPr id="9" name="Text 7"/>
          <p:cNvSpPr/>
          <p:nvPr/>
        </p:nvSpPr>
        <p:spPr>
          <a:xfrm>
            <a:off x="548640" y="3291840"/>
            <a:ext cx="5394960" cy="301752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Step 1 — Prepare. Multiply out T(x) = (x − x₀)(x − x₁)…(x − xₙ₋₁) once.</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Step 2 — For each point i. Copy T, divide out the factor (x − xᵢ), and scale by yᵢ times the inverse of Πⱼ≠ᵢ (xᵢ − xⱼ). (The inverse is computed as a power, because in this field a^(2¹⁶−2) = 1/a.) The buffer now holds x · yᵢ · ℓᵢ(x).</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Step 3 — Add up. Add the buffer into the answer, skipping its lowest coefficient — that skip is the "divide by x" for free.</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Result: n coefficients, equal to L(x). With no points you get the zero polynomial.</a:t>
            </a:r>
            <a:endParaRPr lang="en-US" sz="1200" dirty="0"/>
          </a:p>
        </p:txBody>
      </p:sp>
      <p:sp>
        <p:nvSpPr>
          <p:cNvPr id="10" name="Text 8"/>
          <p:cNvSpPr/>
          <p:nvPr/>
        </p:nvSpPr>
        <p:spPr>
          <a:xfrm>
            <a:off x="6172200" y="18288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The theorem in Lean  (Spqr/Specs/Encoding/Polynomial/Poly/LagrangeInterpolate.lean)</a:t>
            </a:r>
            <a:endParaRPr lang="en-US" sz="1400" dirty="0"/>
          </a:p>
        </p:txBody>
      </p:sp>
      <p:sp>
        <p:nvSpPr>
          <p:cNvPr id="11" name="Text 9"/>
          <p:cNvSpPr/>
          <p:nvPr/>
        </p:nvSpPr>
        <p:spPr>
          <a:xfrm>
            <a:off x="6172200" y="2148840"/>
            <a:ext cx="5440680" cy="3063240"/>
          </a:xfrm>
          <a:prstGeom prst="rect">
            <a:avLst/>
          </a:prstGeom>
          <a:solidFill>
            <a:srgbClr val="F2F2F2"/>
          </a:solidFill>
          <a:ln/>
        </p:spPr>
        <p:txBody>
          <a:bodyPr wrap="square" lIns="101600" tIns="101600" rIns="101600" bIns="101600" rtlCol="0" anchor="t"/>
          <a:lstStyle/>
          <a:p>
            <a:pPr indent="0" marL="0">
              <a:buNone/>
            </a:pPr>
            <a:r>
              <a:rPr lang="en-US" sz="900" dirty="0">
                <a:solidFill>
                  <a:srgbClr val="1E1E1E"/>
                </a:solidFill>
                <a:latin typeface="Consolas" pitchFamily="34" charset="0"/>
                <a:ea typeface="Consolas" pitchFamily="34" charset="-122"/>
                <a:cs typeface="Consolas" pitchFamily="34" charset="-120"/>
              </a:rPr>
              <a:t>@[step]</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theorem lagrange_interpolate_spec (pts : Slice Pt)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(h_len : pts.length + 1 ≤ Usize.max)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lagrange_interpolate pts ⦃ (result : Poly) =&gt;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result.degree = pts.length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(pts.length = 0 → result.toGF216Poly = 0)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result.toGF216Poly = lagrangeInterpolantSum pts pts.length ⦄</a:t>
            </a:r>
            <a:endParaRPr lang="en-US" sz="900" dirty="0"/>
          </a:p>
          <a:p>
            <a:pPr indent="0" marL="0">
              <a:buNone/>
            </a:pP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Spqr/Math/Poly/Lagrange/</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def lagrangeInterpolantSum (pts : List Pt) : Nat → GF216[X]</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 0     =&gt; 0</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 n + 1 =&gt; lagrangeInterpolantSum pts n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(if h : n &lt; pts.length</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then C (lagrangeScaleGF216 (pts.get ⟨n, h⟩) pts) * lagrangeBasisPoly pts n</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else 0)</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def lagrangeScaleGF216 (pi : Pt) (pts : List Pt) : GF216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pi.y.toGF216 * (lagrangeDenomProd pi.x pts 0) ^ (2 ^ 16 - 2)</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def lagrangeBasisPoly (pts : List Pt) (i : Nat) : GF216[X]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if i &lt; pts.length then prodLinearFactors pts 0 i * prodLinearFactors pts (i+1) pts.length else 1</a:t>
            </a:r>
            <a:endParaRPr lang="en-US" sz="900" dirty="0"/>
          </a:p>
        </p:txBody>
      </p:sp>
      <p:sp>
        <p:nvSpPr>
          <p:cNvPr id="12" name="Text 10"/>
          <p:cNvSpPr/>
          <p:nvPr/>
        </p:nvSpPr>
        <p:spPr>
          <a:xfrm>
            <a:off x="6172200" y="5257800"/>
            <a:ext cx="5440680" cy="1188720"/>
          </a:xfrm>
          <a:prstGeom prst="rect">
            <a:avLst/>
          </a:prstGeom>
          <a:noFill/>
          <a:ln/>
        </p:spPr>
        <p:txBody>
          <a:bodyPr wrap="square" rtlCol="0" anchor="t"/>
          <a:lstStyle/>
          <a:p>
            <a:pPr marL="342900" indent="-342900">
              <a:spcAft>
                <a:spcPts val="500"/>
              </a:spcAft>
              <a:buSzPct val="100000"/>
              <a:buChar char="•"/>
            </a:pPr>
            <a:r>
              <a:rPr lang="en-US" sz="1000" dirty="0">
                <a:solidFill>
                  <a:srgbClr val="222222"/>
                </a:solidFill>
                <a:latin typeface="Calibri" pitchFamily="34" charset="0"/>
                <a:ea typeface="Calibri" pitchFamily="34" charset="-122"/>
                <a:cs typeface="Calibri" pitchFamily="34" charset="-120"/>
              </a:rPr>
              <a:t>Reading the theorem: the list of numbers the Rust code returns, read as a polynomial (toGF216Poly), is exactly L(x) — every coefficient, not just the values at the given points.</a:t>
            </a:r>
            <a:endParaRPr lang="en-US" sz="1000" dirty="0"/>
          </a:p>
          <a:p>
            <a:pPr marL="342900" indent="-342900">
              <a:spcAft>
                <a:spcPts val="500"/>
              </a:spcAft>
              <a:buSzPct val="100000"/>
              <a:buChar char="•"/>
            </a:pPr>
            <a:r>
              <a:rPr lang="en-US" sz="1000" dirty="0">
                <a:solidFill>
                  <a:srgbClr val="222222"/>
                </a:solidFill>
                <a:latin typeface="Calibri" pitchFamily="34" charset="0"/>
                <a:ea typeface="Calibri" pitchFamily="34" charset="-122"/>
                <a:cs typeface="Calibri" pitchFamily="34" charset="-120"/>
              </a:rPr>
              <a:t>The proof follows the three steps of the code: one lemma for the inner loop, one for the outer loop (its invariant says the buffer really holds x · yᵢ · ℓᵢ(x)), then cancel the common factor.</a:t>
            </a:r>
            <a:endParaRPr lang="en-US" sz="1000" dirty="0"/>
          </a:p>
          <a:p>
            <a:pPr marL="342900" indent="-342900">
              <a:spcAft>
                <a:spcPts val="500"/>
              </a:spcAft>
              <a:buSzPct val="100000"/>
              <a:buChar char="•"/>
            </a:pPr>
            <a:r>
              <a:rPr lang="en-US" sz="1000" dirty="0">
                <a:solidFill>
                  <a:srgbClr val="222222"/>
                </a:solidFill>
                <a:latin typeface="Calibri" pitchFamily="34" charset="0"/>
                <a:ea typeface="Calibri" pitchFamily="34" charset="-122"/>
                <a:cs typeface="Calibri" pitchFamily="34" charset="-120"/>
              </a:rPr>
              <a:t>The only assumption is that the point count fits in a machine integer. The code's own hint 'at most 36 points' is not needed for correctness.</a:t>
            </a:r>
            <a:endParaRPr lang="en-US" sz="10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 · Using polynomial.rs from encoding.rs: Option&lt;T&gt;::add_chunk</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This function is just a wrapper: open the box, let the decoder inside do the work, close the box. We prove the wrapper once, for any decoder, then plug in the polynomial decoder.</a:t>
            </a:r>
            <a:endParaRPr lang="en-US" sz="1400" dirty="0"/>
          </a:p>
        </p:txBody>
      </p:sp>
      <p:sp>
        <p:nvSpPr>
          <p:cNvPr id="4" name="Text 2"/>
          <p:cNvSpPr/>
          <p:nvPr/>
        </p:nvSpPr>
        <p:spPr>
          <a:xfrm>
            <a:off x="548640" y="1344168"/>
            <a:ext cx="11064240" cy="658368"/>
          </a:xfrm>
          <a:prstGeom prst="rect">
            <a:avLst/>
          </a:prstGeom>
          <a:solidFill>
            <a:srgbClr val="F2F2F2"/>
          </a:solidFill>
          <a:ln/>
        </p:spPr>
        <p:txBody>
          <a:bodyPr wrap="square" lIns="101600" tIns="101600" rIns="101600" bIns="101600" rtlCol="0" anchor="t"/>
          <a:lstStyle/>
          <a:p>
            <a:pPr indent="0" marL="0">
              <a:buNone/>
            </a:pPr>
            <a:r>
              <a:rPr lang="en-US" sz="900" dirty="0">
                <a:solidFill>
                  <a:srgbClr val="1E1E1E"/>
                </a:solidFill>
                <a:latin typeface="Consolas" pitchFamily="34" charset="0"/>
                <a:ea typeface="Consolas" pitchFamily="34" charset="-122"/>
                <a:cs typeface="Consolas" pitchFamily="34" charset="-120"/>
              </a:rPr>
              <a:t>impl&lt;T: Decoder&gt; Decoder for Option&lt;T&gt; {                       // src/encoding.rs</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#[hax_lib::requires(self.is_some())]</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fn add_chunk(&amp;mut self, chunk: &amp;Chunk) { let mut tmp = self.take().unwrap(); T::add_chunk(&amp;mut tmp, chunk); *self = Some(tmp); } }</a:t>
            </a:r>
            <a:endParaRPr lang="en-US" sz="900" dirty="0"/>
          </a:p>
        </p:txBody>
      </p:sp>
      <p:sp>
        <p:nvSpPr>
          <p:cNvPr id="5" name="Text 3"/>
          <p:cNvSpPr/>
          <p:nvPr/>
        </p:nvSpPr>
        <p:spPr>
          <a:xfrm>
            <a:off x="548640" y="2057400"/>
            <a:ext cx="5440680" cy="320040"/>
          </a:xfrm>
          <a:prstGeom prst="rect">
            <a:avLst/>
          </a:prstGeom>
          <a:noFill/>
          <a:ln/>
        </p:spPr>
        <p:txBody>
          <a:bodyPr wrap="square" rtlCol="0" anchor="ctr"/>
          <a:lstStyle/>
          <a:p>
            <a:pPr indent="0" marL="0">
              <a:buNone/>
            </a:pPr>
            <a:r>
              <a:rPr lang="en-US" sz="1400" b="1" dirty="0">
                <a:solidFill>
                  <a:srgbClr val="595959"/>
                </a:solidFill>
                <a:latin typeface="Calibri" pitchFamily="34" charset="0"/>
                <a:ea typeface="Calibri" pitchFamily="34" charset="-122"/>
                <a:cs typeface="Calibri" pitchFamily="34" charset="-120"/>
              </a:rPr>
              <a:t>Without polynomial.rs — works for any decoder T</a:t>
            </a:r>
            <a:endParaRPr lang="en-US" sz="1400" dirty="0"/>
          </a:p>
        </p:txBody>
      </p:sp>
      <p:sp>
        <p:nvSpPr>
          <p:cNvPr id="6" name="Text 4"/>
          <p:cNvSpPr/>
          <p:nvPr/>
        </p:nvSpPr>
        <p:spPr>
          <a:xfrm>
            <a:off x="6172200" y="2057400"/>
            <a:ext cx="5440680" cy="320040"/>
          </a:xfrm>
          <a:prstGeom prst="rect">
            <a:avLst/>
          </a:prstGeom>
          <a:noFill/>
          <a:ln/>
        </p:spPr>
        <p:txBody>
          <a:bodyPr wrap="square" rtlCol="0" anchor="ctr"/>
          <a:lstStyle/>
          <a:p>
            <a:pPr indent="0" marL="0">
              <a:buNone/>
            </a:pPr>
            <a:r>
              <a:rPr lang="en-US" sz="1400" b="1" dirty="0">
                <a:solidFill>
                  <a:srgbClr val="548235"/>
                </a:solidFill>
                <a:latin typeface="Calibri" pitchFamily="34" charset="0"/>
                <a:ea typeface="Calibri" pitchFamily="34" charset="-122"/>
                <a:cs typeface="Calibri" pitchFamily="34" charset="-120"/>
              </a:rPr>
              <a:t>With polynomial.rs — the decoder is PolyDecoder</a:t>
            </a:r>
            <a:endParaRPr lang="en-US" sz="1400" dirty="0"/>
          </a:p>
        </p:txBody>
      </p:sp>
      <p:sp>
        <p:nvSpPr>
          <p:cNvPr id="7" name="Text 5"/>
          <p:cNvSpPr/>
          <p:nvPr/>
        </p:nvSpPr>
        <p:spPr>
          <a:xfrm>
            <a:off x="5532120" y="4206240"/>
            <a:ext cx="1097280" cy="731520"/>
          </a:xfrm>
          <a:prstGeom prst="rect">
            <a:avLst/>
          </a:prstGeom>
          <a:noFill/>
          <a:ln/>
        </p:spPr>
        <p:txBody>
          <a:bodyPr wrap="square" rtlCol="0" anchor="ctr"/>
          <a:lstStyle/>
          <a:p>
            <a:pPr algn="ctr" indent="0" marL="0">
              <a:buNone/>
            </a:pPr>
            <a:r>
              <a:rPr lang="en-US" sz="800" i="1" dirty="0">
                <a:solidFill>
                  <a:srgbClr val="548235"/>
                </a:solidFill>
                <a:latin typeface="Calibri" pitchFamily="34" charset="0"/>
                <a:ea typeface="Calibri" pitchFamily="34" charset="-122"/>
                <a:cs typeface="Calibri" pitchFamily="34" charset="-120"/>
              </a:rPr>
              <a:t>plug in the PolyDecoder theorem ➜</a:t>
            </a:r>
            <a:endParaRPr lang="en-US" sz="800" dirty="0"/>
          </a:p>
        </p:txBody>
      </p:sp>
      <p:sp>
        <p:nvSpPr>
          <p:cNvPr id="8" name="Text 6"/>
          <p:cNvSpPr/>
          <p:nvPr/>
        </p:nvSpPr>
        <p:spPr>
          <a:xfrm>
            <a:off x="548640" y="2377440"/>
            <a:ext cx="4892040" cy="1051560"/>
          </a:xfrm>
          <a:prstGeom prst="rect">
            <a:avLst/>
          </a:prstGeom>
          <a:noFill/>
          <a:ln/>
        </p:spPr>
        <p:txBody>
          <a:bodyPr wrap="square" rtlCol="0" anchor="t"/>
          <a:lstStyle/>
          <a:p>
            <a:pPr indent="0" marL="0">
              <a:buNone/>
            </a:pPr>
            <a:r>
              <a:rPr lang="en-US" sz="1100" dirty="0">
                <a:solidFill>
                  <a:srgbClr val="222222"/>
                </a:solidFill>
                <a:latin typeface="Calibri" pitchFamily="34" charset="0"/>
                <a:ea typeface="Calibri" pitchFamily="34" charset="-122"/>
                <a:cs typeface="Calibri" pitchFamily="34" charset="-120"/>
              </a:rPr>
              <a:t>In words: the box must not be empty. Take the decoder out, give it the chunk, put it back. So afterwards the box is still full, and anything that is true about the decoder's result is also true about what is now in the box. We do not need to know what the decoder actually does.</a:t>
            </a:r>
            <a:endParaRPr lang="en-US" sz="1100" dirty="0"/>
          </a:p>
        </p:txBody>
      </p:sp>
      <p:sp>
        <p:nvSpPr>
          <p:cNvPr id="9" name="Text 7"/>
          <p:cNvSpPr/>
          <p:nvPr/>
        </p:nvSpPr>
        <p:spPr>
          <a:xfrm>
            <a:off x="6172200" y="2377440"/>
            <a:ext cx="5440680" cy="1051560"/>
          </a:xfrm>
          <a:prstGeom prst="rect">
            <a:avLst/>
          </a:prstGeom>
          <a:noFill/>
          <a:ln/>
        </p:spPr>
        <p:txBody>
          <a:bodyPr wrap="square" rtlCol="0" anchor="t"/>
          <a:lstStyle/>
          <a:p>
            <a:pPr indent="0" marL="0">
              <a:buNone/>
            </a:pPr>
            <a:r>
              <a:rPr lang="en-US" sz="1100" dirty="0">
                <a:solidFill>
                  <a:srgbClr val="222222"/>
                </a:solidFill>
                <a:latin typeface="Calibri" pitchFamily="34" charset="0"/>
                <a:ea typeface="Calibri" pitchFamily="34" charset="-122"/>
                <a:cs typeface="Calibri" pitchFamily="34" charset="-120"/>
              </a:rPr>
              <a:t>In words: now the decoder is the polynomial one. Each of the 16 pairs of bytes in the chunk becomes one point (x = chunk number, y = the two bytes) for polynomial number j. The point is kept, in sorted order, only if it is still useful — either the chunk number is small, or that polynomial does not have enough points yet. Otherwise nothing changes. The counters pts_needed and is_complete never change.</a:t>
            </a:r>
            <a:endParaRPr lang="en-US" sz="1100" dirty="0"/>
          </a:p>
        </p:txBody>
      </p:sp>
      <p:sp>
        <p:nvSpPr>
          <p:cNvPr id="10" name="Text 8"/>
          <p:cNvSpPr/>
          <p:nvPr/>
        </p:nvSpPr>
        <p:spPr>
          <a:xfrm>
            <a:off x="548640" y="3429000"/>
            <a:ext cx="5440680" cy="2926080"/>
          </a:xfrm>
          <a:prstGeom prst="rect">
            <a:avLst/>
          </a:prstGeom>
          <a:solidFill>
            <a:srgbClr val="F2F2F2"/>
          </a:solidFill>
          <a:ln/>
        </p:spPr>
        <p:txBody>
          <a:bodyPr wrap="square" lIns="101600" tIns="101600" rIns="101600" bIns="101600" rtlCol="0" anchor="t"/>
          <a:lstStyle/>
          <a:p>
            <a:pPr indent="0" marL="0">
              <a:buNone/>
            </a:pPr>
            <a:r>
              <a:rPr lang="en-US" sz="850" dirty="0">
                <a:solidFill>
                  <a:srgbClr val="1E1E1E"/>
                </a:solidFill>
                <a:latin typeface="Consolas" pitchFamily="34" charset="0"/>
                <a:ea typeface="Consolas" pitchFamily="34" charset="-122"/>
                <a:cs typeface="Consolas" pitchFamily="34" charset="-120"/>
              </a:rPr>
              <a:t>theorem add_chunk_spec_lift</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{T : Type} (DecoderInst : encoding.Decoder T) (self : Option T)</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(chunk : encoding.Chunk)</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(h_some : self.isSome)</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(P : T → Prop)</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(h_inner : ∀ tmp, self = some tmp →</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DecoderInst.add_chunk tmp chunk ⦃ (r : T) =&gt; P r ⦄) :</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add_chunk DecoderInst self chunk ⦃ (result : Option T) =&gt;</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 tmp', result = some tmp' ∧ P tmp' ⦄ := by</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unfold add_chunk</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simp only [Aeneas.Std.core.option.Option.take]</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step with Aeneas.Std.core.option.Option.unwrap.spec as ⟨tmp, h_eq⟩</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have h_post := h_inner tmp h_eq</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step with h_post</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grind</a:t>
            </a:r>
            <a:endParaRPr lang="en-US" sz="850" dirty="0"/>
          </a:p>
          <a:p>
            <a:pPr indent="0" marL="0">
              <a:buNone/>
            </a:pP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P can be any property of the inner decoder.</a:t>
            </a:r>
            <a:endParaRPr lang="en-US" sz="850" dirty="0"/>
          </a:p>
          <a:p>
            <a:pPr indent="0" marL="0">
              <a:buNone/>
            </a:pPr>
            <a:r>
              <a:rPr lang="en-US" sz="850" dirty="0">
                <a:solidFill>
                  <a:srgbClr val="1E1E1E"/>
                </a:solidFill>
                <a:latin typeface="Consolas" pitchFamily="34" charset="0"/>
                <a:ea typeface="Consolas" pitchFamily="34" charset="-122"/>
                <a:cs typeface="Consolas" pitchFamily="34" charset="-120"/>
              </a:rPr>
              <a:t>-- The wrapper simply passes it through, wrapped in `some`.</a:t>
            </a:r>
            <a:endParaRPr lang="en-US" sz="850" dirty="0"/>
          </a:p>
        </p:txBody>
      </p:sp>
      <p:sp>
        <p:nvSpPr>
          <p:cNvPr id="11" name="Text 9"/>
          <p:cNvSpPr/>
          <p:nvPr/>
        </p:nvSpPr>
        <p:spPr>
          <a:xfrm>
            <a:off x="6172200" y="3429000"/>
            <a:ext cx="5440680" cy="2926080"/>
          </a:xfrm>
          <a:prstGeom prst="rect">
            <a:avLst/>
          </a:prstGeom>
          <a:solidFill>
            <a:srgbClr val="F2F2F2"/>
          </a:solidFill>
          <a:ln/>
        </p:spPr>
        <p:txBody>
          <a:bodyPr wrap="square" lIns="101600" tIns="101600" rIns="101600" bIns="101600" rtlCol="0" anchor="t"/>
          <a:lstStyle/>
          <a:p>
            <a:pPr indent="0" marL="0">
              <a:buNone/>
            </a:pPr>
            <a:r>
              <a:rPr lang="en-US" sz="750" dirty="0">
                <a:solidFill>
                  <a:srgbClr val="1E1E1E"/>
                </a:solidFill>
                <a:latin typeface="Consolas" pitchFamily="34" charset="0"/>
                <a:ea typeface="Consolas" pitchFamily="34" charset="-122"/>
                <a:cs typeface="Consolas" pitchFamily="34" charset="-120"/>
              </a:rPr>
              <a:t>theorem add_chunk_spec_poly_decoder (pd0 : PolyDecoder) (chunk : encoding.Chunk)</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(h_overflow : chunk.index * 16 + 16 ≤ Usize.max)</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(h_push_cap : ∀ k &lt; 16, (pd0.pts[k]!).length + 17 ≤ Usize.max)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add_chunk PolyDecoder.Insts.SpqrEncodingDecoder (some pd0) chunk ⦃ result =&gt;</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 pd, result = some pd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pd.pts_needed = pd0.pts_needed ∧ pd.is_complete = pd0.is_complete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 selfs : Nat → PolyDecoder, selfs 0 = pd0 ∧ selfs 16 = pd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 j &lt; 16,</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let total_idx := chunk.index.val * 16 + j</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let poly := total_idx % 16;  let poly_idx := total_idx / 16</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let np := pd0.pts_needed.val / 16 + (if poly &lt; pd0.pts_needed.val % 16 then 1 else 0)</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(selfs (j+1)).pts_needed = pd0.pts_needed ∧ (selfs (j+1)).is_complete = pd0.is_complete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poly &lt; 16 ∧ poly_idx = chunk.index.val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 p : Pt, p.x.value.val = poly_idx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p.y.value.val = chunk.data[j*2]! * 256 + chunk.data[j*2+1]!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(if poly_idx &lt; np ∨ ((selfs j).pts.val[poly]!).val.length &lt; np then</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 k ≠ poly, (selfs (j+1)).pts[k]! = (selfs j).pts.val[k]!) ∧</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IsSortedPushResult ((selfs j).pts.val[poly]!).val ((selfs (j+1)).pts.val[poly]!).val p</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else selfs (j+1) = selfs j) ⦄ := by</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apply add_chunk_spec_lift PolyDecoder.Insts.SpqrEncodingDecoder (some pd0) chunk (by simp)</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intro tmp h_eq; simp only [Option.some.injEq] at h_eq; rw [h_eq] at h_push_cap; rw [h_eq]</a:t>
            </a:r>
            <a:endParaRPr lang="en-US" sz="750" dirty="0"/>
          </a:p>
          <a:p>
            <a:pPr indent="0" marL="0">
              <a:buNone/>
            </a:pPr>
            <a:r>
              <a:rPr lang="en-US" sz="750" dirty="0">
                <a:solidFill>
                  <a:srgbClr val="1E1E1E"/>
                </a:solidFill>
                <a:latin typeface="Consolas" pitchFamily="34" charset="0"/>
                <a:ea typeface="Consolas" pitchFamily="34" charset="-122"/>
                <a:cs typeface="Consolas" pitchFamily="34" charset="-120"/>
              </a:rPr>
              <a:t>  exact PolyDecoder.Insts.SpqrEncodingDecoder.add_chunk_spec tmp chunk h_overflow h_push_cap</a:t>
            </a:r>
            <a:endParaRPr lang="en-US" sz="75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 · Case study: specifying KeyHistory::gc in chain.rs  (1/2)</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"Delete the old keys" is 20 lines of Rust and 962 lines of Lean. The previous verification tool (hax) had skipped this function as too hard.</a:t>
            </a:r>
            <a:endParaRPr lang="en-US" sz="1400" dirty="0"/>
          </a:p>
        </p:txBody>
      </p:sp>
      <p:sp>
        <p:nvSpPr>
          <p:cNvPr id="4" name="Text 2"/>
          <p:cNvSpPr/>
          <p:nvPr/>
        </p:nvSpPr>
        <p:spPr>
          <a:xfrm>
            <a:off x="548640" y="1371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Rust (src/chain.rs 145–168)</a:t>
            </a:r>
            <a:endParaRPr lang="en-US" sz="1400" dirty="0"/>
          </a:p>
        </p:txBody>
      </p:sp>
      <p:sp>
        <p:nvSpPr>
          <p:cNvPr id="5" name="Text 3"/>
          <p:cNvSpPr/>
          <p:nvPr/>
        </p:nvSpPr>
        <p:spPr>
          <a:xfrm>
            <a:off x="548640" y="1691640"/>
            <a:ext cx="5486400" cy="2377440"/>
          </a:xfrm>
          <a:prstGeom prst="rect">
            <a:avLst/>
          </a:prstGeom>
          <a:solidFill>
            <a:srgbClr val="F2F2F2"/>
          </a:solidFill>
          <a:ln/>
        </p:spPr>
        <p:txBody>
          <a:bodyPr wrap="square" lIns="101600" tIns="101600" rIns="101600" bIns="101600" rtlCol="0" anchor="t"/>
          <a:lstStyle/>
          <a:p>
            <a:pPr indent="0" marL="0">
              <a:buNone/>
            </a:pPr>
            <a:r>
              <a:rPr lang="en-US" sz="900" dirty="0">
                <a:solidFill>
                  <a:srgbClr val="1E1E1E"/>
                </a:solidFill>
                <a:latin typeface="Consolas" pitchFamily="34" charset="0"/>
                <a:ea typeface="Consolas" pitchFamily="34" charset="-122"/>
                <a:cs typeface="Consolas" pitchFamily="34" charset="-120"/>
              </a:rPr>
              <a:t>#[hax_lib::opaque] // ordering of slices needed</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fn gc(&amp;mut self, current_key: u32, params: &amp;pqrpb::ChainParams)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if self.data.len() &gt;= params.trim_size() * Self::KEY_SIZE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assert!(current_key &gt;= params.max_ooo_keys_or_default());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let trim_horizon = &amp;(current_key - params.max_ooo_keys_or_default())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.to_be_bytes()[..];</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let mut i = 0;</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while i &lt; self.data.len()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if trim_horizon.cmp(&amp;self.data[i..i + 4]) == Ordering::Greater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self.remove(i, params);  // swap-remove: last record → slot i; i NOT advanced</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 else { i += Self::KEY_SIZE; }</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 }</a:t>
            </a:r>
            <a:endParaRPr lang="en-US" sz="900" dirty="0"/>
          </a:p>
        </p:txBody>
      </p:sp>
      <p:sp>
        <p:nvSpPr>
          <p:cNvPr id="6" name="Text 4"/>
          <p:cNvSpPr/>
          <p:nvPr/>
        </p:nvSpPr>
        <p:spPr>
          <a:xfrm>
            <a:off x="548640" y="4114800"/>
            <a:ext cx="5486400" cy="548640"/>
          </a:xfrm>
          <a:prstGeom prst="rect">
            <a:avLst/>
          </a:prstGeom>
          <a:noFill/>
          <a:ln/>
        </p:spPr>
        <p:txBody>
          <a:bodyPr wrap="square" rtlCol="0" anchor="t"/>
          <a:lstStyle/>
          <a:p>
            <a:pPr indent="0" marL="0">
              <a:buNone/>
            </a:pPr>
            <a:r>
              <a:rPr lang="en-US" sz="1100" dirty="0">
                <a:solidFill>
                  <a:srgbClr val="222222"/>
                </a:solidFill>
                <a:latin typeface="Calibri" pitchFamily="34" charset="0"/>
                <a:ea typeface="Calibri" pitchFamily="34" charset="-122"/>
                <a:cs typeface="Calibri" pitchFamily="34" charset="-120"/>
              </a:rPr>
              <a:t>In words: the history is one long byte array. Every 36 bytes is one record: a 4-byte key number followed by a 32-byte key. When the array gets too long, every record whose number is older than current_key − max_ooo is thrown away.</a:t>
            </a:r>
            <a:endParaRPr lang="en-US" sz="1100" dirty="0"/>
          </a:p>
        </p:txBody>
      </p:sp>
      <p:sp>
        <p:nvSpPr>
          <p:cNvPr id="7" name="Text 5"/>
          <p:cNvSpPr/>
          <p:nvPr/>
        </p:nvSpPr>
        <p:spPr>
          <a:xfrm>
            <a:off x="6309360" y="1371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Why the theorem is hard to state</a:t>
            </a:r>
            <a:endParaRPr lang="en-US" sz="1400" dirty="0"/>
          </a:p>
        </p:txBody>
      </p:sp>
      <p:sp>
        <p:nvSpPr>
          <p:cNvPr id="8" name="Text 6"/>
          <p:cNvSpPr/>
          <p:nvPr/>
        </p:nvSpPr>
        <p:spPr>
          <a:xfrm>
            <a:off x="6309360" y="1691640"/>
            <a:ext cx="5394960" cy="301752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Everything is bytes. The theorem cannot say "key number ≥ horizon"; it has to talk about every 36th position and compare 4 bytes at a time. The fact that comparing bytes is the same as comparing numbers must itself be proved.</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Deleting reorders the list. A record is deleted by moving the last record into its slot — and that moved record may itself be old. So a simple "everything before position i is fine" invariant is false.</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What does "correct" mean? Three things: (1) every kept record is still live, (2) every live record is kept, (3) nothing is duplicated. To state (3) we need an explicit one-to-one matching between old and new positions.</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Two loops, two platforms. One lemma per loop step, one for the whole loop (12 facts kept true at every step), and a top-level theorem for 32-bit and for 64-bit machines.</a:t>
            </a:r>
            <a:endParaRPr lang="en-US" sz="1100" dirty="0"/>
          </a:p>
        </p:txBody>
      </p:sp>
      <p:sp>
        <p:nvSpPr>
          <p:cNvPr id="9" name="Text 7"/>
          <p:cNvSpPr/>
          <p:nvPr/>
        </p:nvSpPr>
        <p:spPr>
          <a:xfrm>
            <a:off x="548640" y="4709160"/>
            <a:ext cx="109728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Where the proof effort went</a:t>
            </a:r>
            <a:endParaRPr lang="en-US" sz="1400" dirty="0"/>
          </a:p>
        </p:txBody>
      </p:sp>
      <p:sp>
        <p:nvSpPr>
          <p:cNvPr id="10" name="Text 8"/>
          <p:cNvSpPr/>
          <p:nvPr/>
        </p:nvSpPr>
        <p:spPr>
          <a:xfrm>
            <a:off x="548640" y="5029200"/>
            <a:ext cx="11064240" cy="137160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one-to-one matching has to be rebuilt after every deletion, and three small helper lemmas were needed just to go back and forth between "these byte ranges are equal" and "these bytes are equal".</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byte comparison is a function that could, in principle, fail. A separate lemma shows it never does, so the proof can split on its three outcomes.</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Overflow arithmetic: the threshold is (max_ooo · 11 / 10 + 1) · 36, so max_ooo must be small enough — under about 108 million on 32-bit, under about 390 million on 64-bit (the bound the Rust code itself assumes).</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7 · Case study: specifying KeyHistory::gc in chain.rs  (2/2)</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The first version of the theorem was true, but its conditions were so strict it could never be used. The final version says exactly what the code guarantees — no more, no less.</a:t>
            </a:r>
            <a:endParaRPr lang="en-US" sz="1400" dirty="0"/>
          </a:p>
        </p:txBody>
      </p:sp>
      <p:sp>
        <p:nvSpPr>
          <p:cNvPr id="4" name="Text 2"/>
          <p:cNvSpPr/>
          <p:nvPr/>
        </p:nvSpPr>
        <p:spPr>
          <a:xfrm>
            <a:off x="548640" y="1371600"/>
            <a:ext cx="109728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How the theorem evolved (Spqr/Specs/Chain/KeyHistory/Gc.lean)</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731520"/>
                <a:gridCol w="1554480"/>
                <a:gridCol w="4206240"/>
                <a:gridCol w="3291840"/>
                <a:gridCol w="12801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Commit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the theorem assumed about current_key</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promised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Aug 25</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onsolas" pitchFamily="34" charset="0"/>
                          <a:ea typeface="Consolas" pitchFamily="34" charset="-122"/>
                          <a:cs typeface="Consolas" pitchFamily="34" charset="-120"/>
                        </a:rPr>
                        <a:t>7886560 (draft)</a:t>
                      </a:r>
                      <a:endParaRPr lang="en-US" sz="10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always: current_key ≥ max_ooo_keys AND current_key ≥ 2000</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kept records are live; each comes from somewhere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~480 lines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Aug 29</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onsolas" pitchFamily="34" charset="0"/>
                          <a:ea typeface="Consolas" pitchFamily="34" charset="-122"/>
                          <a:cs typeface="Consolas" pitchFamily="34" charset="-120"/>
                        </a:rPr>
                        <a:t>201b82d</a:t>
                      </a:r>
                      <a:endParaRPr lang="en-US" sz="10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same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 every live record is kept</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+108 / −31</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Aug 29</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onsolas" pitchFamily="34" charset="0"/>
                          <a:ea typeface="Consolas" pitchFamily="34" charset="-122"/>
                          <a:cs typeface="Consolas" pitchFamily="34" charset="-120"/>
                        </a:rPr>
                        <a:t>036857f</a:t>
                      </a:r>
                      <a:endParaRPr lang="en-US" sz="10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same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 a 64-bit version</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Aug 31</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onsolas" pitchFamily="34" charset="0"/>
                          <a:ea typeface="Consolas" pitchFamily="34" charset="-122"/>
                          <a:cs typeface="Consolas" pitchFamily="34" charset="-120"/>
                        </a:rPr>
                        <a:t>aa4962d · PR #491</a:t>
                      </a:r>
                      <a:endParaRPr lang="en-US" sz="10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only when the history is long enough to be trimmed: current_key ≥ max_ooo</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 one-to-one matching (no duplicates)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00" dirty="0">
                          <a:solidFill>
                            <a:srgbClr val="222222"/>
                          </a:solidFill>
                          <a:latin typeface="Calibri" pitchFamily="34" charset="0"/>
                          <a:ea typeface="Calibri" pitchFamily="34" charset="-122"/>
                          <a:cs typeface="Calibri" pitchFamily="34" charset="-120"/>
                        </a:rPr>
                        <a:t>962 lines</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bl>
          </a:graphicData>
        </a:graphic>
      </p:graphicFrame>
      <p:sp>
        <p:nvSpPr>
          <p:cNvPr id="6" name="Text 3"/>
          <p:cNvSpPr/>
          <p:nvPr/>
        </p:nvSpPr>
        <p:spPr>
          <a:xfrm>
            <a:off x="548640" y="3429000"/>
            <a:ext cx="5486400" cy="320040"/>
          </a:xfrm>
          <a:prstGeom prst="rect">
            <a:avLst/>
          </a:prstGeom>
          <a:noFill/>
          <a:ln/>
        </p:spPr>
        <p:txBody>
          <a:bodyPr wrap="square" rtlCol="0" anchor="ctr"/>
          <a:lstStyle/>
          <a:p>
            <a:pPr indent="0" marL="0">
              <a:buNone/>
            </a:pPr>
            <a:r>
              <a:rPr lang="en-US" sz="1400" b="1" dirty="0">
                <a:solidFill>
                  <a:srgbClr val="BF9000"/>
                </a:solidFill>
                <a:latin typeface="Calibri" pitchFamily="34" charset="0"/>
                <a:ea typeface="Calibri" pitchFamily="34" charset="-122"/>
                <a:cs typeface="Calibri" pitchFamily="34" charset="-120"/>
              </a:rPr>
              <a:t>What was wrong with the first conditions</a:t>
            </a:r>
            <a:endParaRPr lang="en-US" sz="1400" dirty="0"/>
          </a:p>
        </p:txBody>
      </p:sp>
      <p:sp>
        <p:nvSpPr>
          <p:cNvPr id="7" name="Text 4"/>
          <p:cNvSpPr/>
          <p:nvPr/>
        </p:nvSpPr>
        <p:spPr>
          <a:xfrm>
            <a:off x="548640" y="3749040"/>
            <a:ext cx="5486400" cy="265176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"current_key ≥ 2000" condition only made sense when the default setting is used (max_ooo_keys = 0 means 2000). But it was required always. With max_ooo_keys = 10 and current_key = 500 — perfectly valid — the theorem could not be used.</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conditions were also required when gc does nothing. If the history is short, gc returns at once and never checks anything. But the theorem still demanded the bound, so it could not be used by the caller, which runs gc on every single key — starting from key 0.</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A concrete case: default settings, one stored key, current_key = 7. The Rust code returns immediately. The draft theorem needs 2000 ≤ 7, which is false — so the caller's proof is stuck.</a:t>
            </a:r>
            <a:endParaRPr lang="en-US" sz="1100" dirty="0"/>
          </a:p>
        </p:txBody>
      </p:sp>
      <p:sp>
        <p:nvSpPr>
          <p:cNvPr id="8" name="Text 5"/>
          <p:cNvSpPr/>
          <p:nvPr/>
        </p:nvSpPr>
        <p:spPr>
          <a:xfrm>
            <a:off x="6309360" y="3429000"/>
            <a:ext cx="5486400" cy="320040"/>
          </a:xfrm>
          <a:prstGeom prst="rect">
            <a:avLst/>
          </a:prstGeom>
          <a:noFill/>
          <a:ln/>
        </p:spPr>
        <p:txBody>
          <a:bodyPr wrap="square" rtlCol="0" anchor="ctr"/>
          <a:lstStyle/>
          <a:p>
            <a:pPr indent="0" marL="0">
              <a:buNone/>
            </a:pPr>
            <a:r>
              <a:rPr lang="en-US" sz="1400" b="1" dirty="0">
                <a:solidFill>
                  <a:srgbClr val="548235"/>
                </a:solidFill>
                <a:latin typeface="Calibri" pitchFamily="34" charset="0"/>
                <a:ea typeface="Calibri" pitchFamily="34" charset="-122"/>
                <a:cs typeface="Calibri" pitchFamily="34" charset="-120"/>
              </a:rPr>
              <a:t>The fix — and why the one-to-one matching matters</a:t>
            </a:r>
            <a:endParaRPr lang="en-US" sz="1400" dirty="0"/>
          </a:p>
        </p:txBody>
      </p:sp>
      <p:sp>
        <p:nvSpPr>
          <p:cNvPr id="9" name="Text 6"/>
          <p:cNvSpPr/>
          <p:nvPr/>
        </p:nvSpPr>
        <p:spPr>
          <a:xfrm>
            <a:off x="6309360" y="3749040"/>
            <a:ext cx="5394960" cy="868680"/>
          </a:xfrm>
          <a:prstGeom prst="rect">
            <a:avLst/>
          </a:prstGeom>
          <a:solidFill>
            <a:srgbClr val="F2F2F2"/>
          </a:solidFill>
          <a:ln/>
        </p:spPr>
        <p:txBody>
          <a:bodyPr wrap="square" lIns="101600" tIns="101600" rIns="101600" bIns="101600" rtlCol="0" anchor="t"/>
          <a:lstStyle/>
          <a:p>
            <a:pPr indent="0" marL="0">
              <a:buNone/>
            </a:pPr>
            <a:r>
              <a:rPr lang="en-US" sz="900" dirty="0">
                <a:solidFill>
                  <a:srgbClr val="1E1E1E"/>
                </a:solidFill>
                <a:latin typeface="Consolas" pitchFamily="34" charset="0"/>
                <a:ea typeface="Consolas" pitchFamily="34" charset="-122"/>
                <a:cs typeface="Consolas" pitchFamily="34" charset="-120"/>
              </a:rPr>
              <a:t>(h_key_ge : let max_ooo := if 0#u32 &lt; params.max_ooo_keys</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then params.max_ooo_keys.val else 2000</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let trim_threshold := (max_ooo * 11 / 10 + 1) * 36</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trim_threshold ≤ self.data.length → max_ooo ≤ current_key.val)</a:t>
            </a:r>
            <a:endParaRPr lang="en-US" sz="900" dirty="0"/>
          </a:p>
        </p:txBody>
      </p:sp>
      <p:sp>
        <p:nvSpPr>
          <p:cNvPr id="10" name="Text 7"/>
          <p:cNvSpPr/>
          <p:nvPr/>
        </p:nvSpPr>
        <p:spPr>
          <a:xfrm>
            <a:off x="6309360" y="4663440"/>
            <a:ext cx="5394960" cy="173736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fix: ask for the bound only in the case where the code actually needs it — exactly like the assert! in the Rust code. The default value is folded into max_ooo, so one condition covers both settings.</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Why the matching matters: take records [A:5, B:1, C:9] and horizon 3. The loop deletes B by moving C into its slot, giving [A, C]. "All kept are live" and "all live are kept" would also accept the wrong answers [A, C, C] or [A, A]. Only the one-to-one matching rules those out — and that is what the later proof of get needs ("a key is found exactly once").</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8 · The bridge: the top-level interface in src/lib.rs</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lib.rs is the only part an application talks to. Its small helpers are proved; the three big entry points — initial_state, send, recv — are next, and everything they call is already done.</a:t>
            </a:r>
            <a:endParaRPr lang="en-US" sz="1400" dirty="0"/>
          </a:p>
        </p:txBody>
      </p:sp>
      <p:sp>
        <p:nvSpPr>
          <p:cNvPr id="4" name="Text 2"/>
          <p:cNvSpPr/>
          <p:nvPr/>
        </p:nvSpPr>
        <p:spPr>
          <a:xfrm>
            <a:off x="548640" y="1371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What the bridge does</a:t>
            </a:r>
            <a:endParaRPr lang="en-US" sz="1400" dirty="0"/>
          </a:p>
        </p:txBody>
      </p:sp>
      <p:sp>
        <p:nvSpPr>
          <p:cNvPr id="5" name="Text 3"/>
          <p:cNvSpPr/>
          <p:nvPr/>
        </p:nvSpPr>
        <p:spPr>
          <a:xfrm>
            <a:off x="548640" y="1691640"/>
            <a:ext cx="5486400" cy="246888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An application never sees chains, polynomials or key histories. It sees only bytes: a serialized state, a serialized message, and (sometimes) a secret.</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Three entry points do all the work: initial_state creates a state, send produces a message and a key, recv reads a message and returns the new state and key.</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Around them sit small helpers: reading the state bytes (decode_state), asking which protocol version is in use (current_version), and unpacking the returned secret (SecretOutput).</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This is the layer where every proved piece must fit together — a wrong bridge would make the rest of the proofs useless to the application.</a:t>
            </a:r>
            <a:endParaRPr lang="en-US" sz="1200" dirty="0"/>
          </a:p>
        </p:txBody>
      </p:sp>
      <p:sp>
        <p:nvSpPr>
          <p:cNvPr id="6" name="Text 4"/>
          <p:cNvSpPr/>
          <p:nvPr/>
        </p:nvSpPr>
        <p:spPr>
          <a:xfrm>
            <a:off x="548640" y="406908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The public API (src/lib.rs)</a:t>
            </a:r>
            <a:endParaRPr lang="en-US" sz="1400" dirty="0"/>
          </a:p>
        </p:txBody>
      </p:sp>
      <p:sp>
        <p:nvSpPr>
          <p:cNvPr id="7" name="Text 5"/>
          <p:cNvSpPr/>
          <p:nvPr/>
        </p:nvSpPr>
        <p:spPr>
          <a:xfrm>
            <a:off x="548640" y="4389120"/>
            <a:ext cx="5486400" cy="1325880"/>
          </a:xfrm>
          <a:prstGeom prst="rect">
            <a:avLst/>
          </a:prstGeom>
          <a:solidFill>
            <a:srgbClr val="F2F2F2"/>
          </a:solidFill>
          <a:ln/>
        </p:spPr>
        <p:txBody>
          <a:bodyPr wrap="square" lIns="101600" tIns="101600" rIns="101600" bIns="101600" rtlCol="0" anchor="t"/>
          <a:lstStyle/>
          <a:p>
            <a:pPr indent="0" marL="0">
              <a:buNone/>
            </a:pPr>
            <a:r>
              <a:rPr lang="en-US" sz="900" dirty="0">
                <a:solidFill>
                  <a:srgbClr val="1E1E1E"/>
                </a:solidFill>
                <a:latin typeface="Consolas" pitchFamily="34" charset="0"/>
                <a:ea typeface="Consolas" pitchFamily="34" charset="-122"/>
                <a:cs typeface="Consolas" pitchFamily="34" charset="-120"/>
              </a:rPr>
              <a:t>pub fn initial_state(params: Params) -&gt; Result&lt;SerializedState, Error&gt;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pub fn send&lt;R: Rng + CryptoRng&gt;(state: &amp;SerializedState, rng: &amp;mut R)</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-&gt; Result&lt;Send, Error&gt;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pub fn recv(state: &amp;SerializedState, msg: &amp;SerializedMessage)</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                                        -&gt; Result&lt;Recv, Error&gt;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pub fn current_version(state: &amp;SerializedState) -&gt; Result&lt;CurrentVersion, Error&gt;</a:t>
            </a:r>
            <a:endParaRPr lang="en-US" sz="900" dirty="0"/>
          </a:p>
          <a:p>
            <a:pPr indent="0" marL="0">
              <a:buNone/>
            </a:pPr>
            <a:r>
              <a:rPr lang="en-US" sz="900" dirty="0">
                <a:solidFill>
                  <a:srgbClr val="1E1E1E"/>
                </a:solidFill>
                <a:latin typeface="Consolas" pitchFamily="34" charset="0"/>
                <a:ea typeface="Consolas" pitchFamily="34" charset="-122"/>
                <a:cs typeface="Consolas" pitchFamily="34" charset="-120"/>
              </a:rPr>
              <a:t>pub fn empty_state() -&gt; SerializedState</a:t>
            </a:r>
            <a:endParaRPr lang="en-US" sz="900" dirty="0"/>
          </a:p>
        </p:txBody>
      </p:sp>
      <p:sp>
        <p:nvSpPr>
          <p:cNvPr id="8" name="Text 6"/>
          <p:cNvSpPr/>
          <p:nvPr/>
        </p:nvSpPr>
        <p:spPr>
          <a:xfrm>
            <a:off x="6309360" y="1371600"/>
            <a:ext cx="54864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Status of lib.rs: 16 functions, 7 with theorems (tests excluded)</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09360" y="1691640"/>
          <a:ext cx="5486400" cy="914400"/>
        </p:xfrm>
        <a:graphic>
          <a:graphicData uri="http://schemas.openxmlformats.org/drawingml/2006/table">
            <a:tbl>
              <a:tblPr/>
              <a:tblGrid>
                <a:gridCol w="2286000"/>
                <a:gridCol w="914400"/>
                <a:gridCol w="228600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Function</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the theorem says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empty_state</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proved</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returns the empty byte string</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SecretOutput::{send_secret, recv_secret, secret, has_secret}</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proved (4)</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exactly which variant yields a secret</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current_version</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proved</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empty → V0 and negotiation done; else the decoded state's version, or StateDecode</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decode_state</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1 sorry</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empty → default state; else decode/encode round-trip — blocked on prost code (#102)</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initial_state, init_inner</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next</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state bytes contain the right version, direction, chain params</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send, recv</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next</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the top-level correctness statements</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800" dirty="0">
                          <a:solidFill>
                            <a:srgbClr val="222222"/>
                          </a:solidFill>
                          <a:latin typeface="Consolas" pitchFamily="34" charset="0"/>
                          <a:ea typeface="Consolas" pitchFamily="34" charset="-122"/>
                          <a:cs typeface="Consolas" pitchFamily="34" charset="-120"/>
                        </a:rPr>
                        <a:t>chain_from*, msg_version, state_version, Direction::switch</a:t>
                      </a:r>
                      <a:endParaRPr lang="en-US" sz="800" dirty="0">
                        <a:latin typeface="Consolas" charset="0"/>
                        <a:ea typeface="Consolas" charset="0"/>
                        <a:cs typeface="Consolas"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 next</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800" dirty="0">
                          <a:solidFill>
                            <a:srgbClr val="222222"/>
                          </a:solidFill>
                          <a:latin typeface="Calibri" pitchFamily="34" charset="0"/>
                          <a:ea typeface="Calibri" pitchFamily="34" charset="-122"/>
                          <a:cs typeface="Calibri" pitchFamily="34" charset="-120"/>
                        </a:rPr>
                        <a:t>small helpers used by send / recv</a:t>
                      </a:r>
                      <a:endParaRPr lang="en-US" sz="8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Text 7"/>
          <p:cNvSpPr/>
          <p:nvPr/>
        </p:nvSpPr>
        <p:spPr>
          <a:xfrm>
            <a:off x="6309360" y="4983480"/>
            <a:ext cx="5486400" cy="320040"/>
          </a:xfrm>
          <a:prstGeom prst="rect">
            <a:avLst/>
          </a:prstGeom>
          <a:noFill/>
          <a:ln/>
        </p:spPr>
        <p:txBody>
          <a:bodyPr wrap="square" rtlCol="0" anchor="ctr"/>
          <a:lstStyle/>
          <a:p>
            <a:pPr indent="0" marL="0">
              <a:buNone/>
            </a:pPr>
            <a:r>
              <a:rPr lang="en-US" sz="1400" b="1" dirty="0">
                <a:solidFill>
                  <a:srgbClr val="BF9000"/>
                </a:solidFill>
                <a:latin typeface="Calibri" pitchFamily="34" charset="0"/>
                <a:ea typeface="Calibri" pitchFamily="34" charset="-122"/>
                <a:cs typeface="Calibri" pitchFamily="34" charset="-120"/>
              </a:rPr>
              <a:t>Why the big three are last</a:t>
            </a:r>
            <a:endParaRPr lang="en-US" sz="1400" dirty="0"/>
          </a:p>
        </p:txBody>
      </p:sp>
      <p:sp>
        <p:nvSpPr>
          <p:cNvPr id="11" name="Text 8"/>
          <p:cNvSpPr/>
          <p:nvPr/>
        </p:nvSpPr>
        <p:spPr>
          <a:xfrm>
            <a:off x="6309360" y="5303520"/>
            <a:ext cx="5394960" cy="109728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They depend on everything else: the chain (11/25 done), the v1 state machine, protobuf decoding, and the KEM. We verified bottom-up so each layer's theorem is ready when its caller needs it.</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blocker is shared: protobuf encode/decode is generated code that the translator replaces with sorry. Specifying it once unblocks decode_state, initial_state, send and recv together.</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91440"/>
            <a:ext cx="11247120" cy="64008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9 · Closing: the bridge in context — architecture &amp; what's next</a:t>
            </a:r>
            <a:endParaRPr lang="en-US" sz="2600" dirty="0"/>
          </a:p>
        </p:txBody>
      </p:sp>
      <p:sp>
        <p:nvSpPr>
          <p:cNvPr id="3" name="Text 1"/>
          <p:cNvSpPr/>
          <p:nvPr/>
        </p:nvSpPr>
        <p:spPr>
          <a:xfrm>
            <a:off x="548640" y="896112"/>
            <a:ext cx="11064240" cy="384048"/>
          </a:xfrm>
          <a:prstGeom prst="rect">
            <a:avLst/>
          </a:prstGeom>
          <a:solidFill>
            <a:srgbClr val="DEEBF7"/>
          </a:solidFill>
          <a:ln/>
        </p:spPr>
        <p:txBody>
          <a:bodyPr wrap="square" lIns="76200" tIns="76200" rIns="76200" bIns="76200" rtlCol="0" anchor="ctr"/>
          <a:lstStyle/>
          <a:p>
            <a:pPr indent="0" marL="0">
              <a:buNone/>
            </a:pPr>
            <a:r>
              <a:rPr lang="en-US" sz="1400" i="1" dirty="0">
                <a:solidFill>
                  <a:srgbClr val="1F3864"/>
                </a:solidFill>
                <a:latin typeface="Calibri" pitchFamily="34" charset="0"/>
                <a:ea typeface="Calibri" pitchFamily="34" charset="-122"/>
                <a:cs typeface="Calibri" pitchFamily="34" charset="-120"/>
              </a:rPr>
              <a:t>The bridge is the capstone: every layer below is being proved so these five functions can carry machine-checked guarantees to the application.</a:t>
            </a:r>
            <a:endParaRPr lang="en-US" sz="1400" dirty="0"/>
          </a:p>
        </p:txBody>
      </p:sp>
      <p:sp>
        <p:nvSpPr>
          <p:cNvPr id="4" name="Text 2"/>
          <p:cNvSpPr/>
          <p:nvPr/>
        </p:nvSpPr>
        <p:spPr>
          <a:xfrm>
            <a:off x="548640" y="1371600"/>
            <a:ext cx="530352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End-to-end architecture</a:t>
            </a:r>
            <a:endParaRPr lang="en-US" sz="1400" dirty="0"/>
          </a:p>
        </p:txBody>
      </p:sp>
      <p:sp>
        <p:nvSpPr>
          <p:cNvPr id="5" name="Shape 3"/>
          <p:cNvSpPr/>
          <p:nvPr/>
        </p:nvSpPr>
        <p:spPr>
          <a:xfrm>
            <a:off x="731520" y="1783080"/>
            <a:ext cx="4937760" cy="658368"/>
          </a:xfrm>
          <a:prstGeom prst="roundRect">
            <a:avLst>
              <a:gd name="adj" fmla="val 11111"/>
            </a:avLst>
          </a:prstGeom>
          <a:solidFill>
            <a:srgbClr val="DEEBF7"/>
          </a:solidFill>
          <a:ln w="9525">
            <a:solidFill>
              <a:srgbClr val="BFBFBF"/>
            </a:solidFill>
            <a:prstDash val="solid"/>
          </a:ln>
        </p:spPr>
      </p:sp>
      <p:sp>
        <p:nvSpPr>
          <p:cNvPr id="6" name="Text 4"/>
          <p:cNvSpPr/>
          <p:nvPr/>
        </p:nvSpPr>
        <p:spPr>
          <a:xfrm>
            <a:off x="868680" y="1783080"/>
            <a:ext cx="4663440" cy="342351"/>
          </a:xfrm>
          <a:prstGeom prst="rect">
            <a:avLst/>
          </a:prstGeom>
          <a:noFill/>
          <a:ln/>
        </p:spPr>
        <p:txBody>
          <a:bodyPr wrap="square" rtlCol="0" anchor="b"/>
          <a:lstStyle/>
          <a:p>
            <a:pPr indent="0" marL="0">
              <a:buNone/>
            </a:pPr>
            <a:r>
              <a:rPr lang="en-US" sz="1200" b="1" dirty="0">
                <a:solidFill>
                  <a:srgbClr val="222222"/>
                </a:solidFill>
                <a:latin typeface="Calibri" pitchFamily="34" charset="0"/>
                <a:ea typeface="Calibri" pitchFamily="34" charset="-122"/>
                <a:cs typeface="Calibri" pitchFamily="34" charset="-120"/>
              </a:rPr>
              <a:t>Application  (Signal app / FFI / language binding)</a:t>
            </a:r>
            <a:endParaRPr lang="en-US" sz="1200" dirty="0"/>
          </a:p>
        </p:txBody>
      </p:sp>
      <p:sp>
        <p:nvSpPr>
          <p:cNvPr id="7" name="Text 5"/>
          <p:cNvSpPr/>
          <p:nvPr/>
        </p:nvSpPr>
        <p:spPr>
          <a:xfrm>
            <a:off x="868680" y="2079346"/>
            <a:ext cx="4663440" cy="329184"/>
          </a:xfrm>
          <a:prstGeom prst="rect">
            <a:avLst/>
          </a:prstGeom>
          <a:noFill/>
          <a:ln/>
        </p:spPr>
        <p:txBody>
          <a:bodyPr wrap="square" rtlCol="0" anchor="t"/>
          <a:lstStyle/>
          <a:p>
            <a:pPr indent="0" marL="0">
              <a:buNone/>
            </a:pPr>
            <a:r>
              <a:rPr lang="en-US" sz="900" dirty="0">
                <a:solidFill>
                  <a:srgbClr val="595959"/>
                </a:solidFill>
                <a:latin typeface="Calibri" pitchFamily="34" charset="0"/>
                <a:ea typeface="Calibri" pitchFamily="34" charset="-122"/>
                <a:cs typeface="Calibri" pitchFamily="34" charset="-120"/>
              </a:rPr>
              <a:t>Sees only opaque byte vectors — never touches internals</a:t>
            </a:r>
            <a:endParaRPr lang="en-US" sz="900" dirty="0"/>
          </a:p>
        </p:txBody>
      </p:sp>
      <p:sp>
        <p:nvSpPr>
          <p:cNvPr id="8" name="Shape 6"/>
          <p:cNvSpPr/>
          <p:nvPr/>
        </p:nvSpPr>
        <p:spPr>
          <a:xfrm>
            <a:off x="731520" y="2551176"/>
            <a:ext cx="4937760" cy="658368"/>
          </a:xfrm>
          <a:prstGeom prst="roundRect">
            <a:avLst>
              <a:gd name="adj" fmla="val 11111"/>
            </a:avLst>
          </a:prstGeom>
          <a:solidFill>
            <a:srgbClr val="2E75B6"/>
          </a:solidFill>
          <a:ln w="9525">
            <a:solidFill>
              <a:srgbClr val="BFBFBF"/>
            </a:solidFill>
            <a:prstDash val="solid"/>
          </a:ln>
        </p:spPr>
      </p:sp>
      <p:sp>
        <p:nvSpPr>
          <p:cNvPr id="9" name="Text 7"/>
          <p:cNvSpPr/>
          <p:nvPr/>
        </p:nvSpPr>
        <p:spPr>
          <a:xfrm>
            <a:off x="868680" y="2551176"/>
            <a:ext cx="4663440" cy="342351"/>
          </a:xfrm>
          <a:prstGeom prst="rect">
            <a:avLst/>
          </a:prstGeom>
          <a:noFill/>
          <a:ln/>
        </p:spPr>
        <p:txBody>
          <a:bodyPr wrap="square"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src/lib.rs  —  5 public functions</a:t>
            </a:r>
            <a:endParaRPr lang="en-US" sz="1200" dirty="0"/>
          </a:p>
        </p:txBody>
      </p:sp>
      <p:sp>
        <p:nvSpPr>
          <p:cNvPr id="10" name="Text 8"/>
          <p:cNvSpPr/>
          <p:nvPr/>
        </p:nvSpPr>
        <p:spPr>
          <a:xfrm>
            <a:off x="868680" y="2847442"/>
            <a:ext cx="4663440" cy="329184"/>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initial_state · send · recv · current_version · empty_state</a:t>
            </a:r>
            <a:endParaRPr lang="en-US" sz="900" dirty="0"/>
          </a:p>
        </p:txBody>
      </p:sp>
      <p:sp>
        <p:nvSpPr>
          <p:cNvPr id="11" name="Shape 9"/>
          <p:cNvSpPr/>
          <p:nvPr/>
        </p:nvSpPr>
        <p:spPr>
          <a:xfrm>
            <a:off x="731520" y="3319272"/>
            <a:ext cx="4937760" cy="658368"/>
          </a:xfrm>
          <a:prstGeom prst="roundRect">
            <a:avLst>
              <a:gd name="adj" fmla="val 11111"/>
            </a:avLst>
          </a:prstGeom>
          <a:solidFill>
            <a:srgbClr val="E2EFDA"/>
          </a:solidFill>
          <a:ln w="9525">
            <a:solidFill>
              <a:srgbClr val="BFBFBF"/>
            </a:solidFill>
            <a:prstDash val="solid"/>
          </a:ln>
        </p:spPr>
      </p:sp>
      <p:sp>
        <p:nvSpPr>
          <p:cNvPr id="12" name="Text 10"/>
          <p:cNvSpPr/>
          <p:nvPr/>
        </p:nvSpPr>
        <p:spPr>
          <a:xfrm>
            <a:off x="868680" y="3319272"/>
            <a:ext cx="4663440" cy="342351"/>
          </a:xfrm>
          <a:prstGeom prst="rect">
            <a:avLst/>
          </a:prstGeom>
          <a:noFill/>
          <a:ln/>
        </p:spPr>
        <p:txBody>
          <a:bodyPr wrap="square" rtlCol="0" anchor="b"/>
          <a:lstStyle/>
          <a:p>
            <a:pPr indent="0" marL="0">
              <a:buNone/>
            </a:pPr>
            <a:r>
              <a:rPr lang="en-US" sz="1200" b="1" dirty="0">
                <a:solidFill>
                  <a:srgbClr val="222222"/>
                </a:solidFill>
                <a:latin typeface="Calibri" pitchFamily="34" charset="0"/>
                <a:ea typeface="Calibri" pitchFamily="34" charset="-122"/>
                <a:cs typeface="Calibri" pitchFamily="34" charset="-120"/>
              </a:rPr>
              <a:t>Internal modules  (47 % specified)</a:t>
            </a:r>
            <a:endParaRPr lang="en-US" sz="1200" dirty="0"/>
          </a:p>
        </p:txBody>
      </p:sp>
      <p:sp>
        <p:nvSpPr>
          <p:cNvPr id="13" name="Text 11"/>
          <p:cNvSpPr/>
          <p:nvPr/>
        </p:nvSpPr>
        <p:spPr>
          <a:xfrm>
            <a:off x="868680" y="3615538"/>
            <a:ext cx="4663440" cy="329184"/>
          </a:xfrm>
          <a:prstGeom prst="rect">
            <a:avLst/>
          </a:prstGeom>
          <a:noFill/>
          <a:ln/>
        </p:spPr>
        <p:txBody>
          <a:bodyPr wrap="square" rtlCol="0" anchor="t"/>
          <a:lstStyle/>
          <a:p>
            <a:pPr indent="0" marL="0">
              <a:buNone/>
            </a:pPr>
            <a:r>
              <a:rPr lang="en-US" sz="900" dirty="0">
                <a:solidFill>
                  <a:srgbClr val="595959"/>
                </a:solidFill>
                <a:latin typeface="Calibri" pitchFamily="34" charset="0"/>
                <a:ea typeface="Calibri" pitchFamily="34" charset="-122"/>
                <a:cs typeface="Calibri" pitchFamily="34" charset="-120"/>
              </a:rPr>
              <a:t>chain · v1 · authenticator · encoding · kdf · serialize · incremental_mlkem768</a:t>
            </a:r>
            <a:endParaRPr lang="en-US" sz="900" dirty="0"/>
          </a:p>
        </p:txBody>
      </p:sp>
      <p:sp>
        <p:nvSpPr>
          <p:cNvPr id="14" name="Shape 12"/>
          <p:cNvSpPr/>
          <p:nvPr/>
        </p:nvSpPr>
        <p:spPr>
          <a:xfrm>
            <a:off x="731520" y="4087368"/>
            <a:ext cx="4937760" cy="658368"/>
          </a:xfrm>
          <a:prstGeom prst="roundRect">
            <a:avLst>
              <a:gd name="adj" fmla="val 11111"/>
            </a:avLst>
          </a:prstGeom>
          <a:solidFill>
            <a:srgbClr val="FFF2CC"/>
          </a:solidFill>
          <a:ln w="9525">
            <a:solidFill>
              <a:srgbClr val="BFBFBF"/>
            </a:solidFill>
            <a:prstDash val="solid"/>
          </a:ln>
        </p:spPr>
      </p:sp>
      <p:sp>
        <p:nvSpPr>
          <p:cNvPr id="15" name="Text 13"/>
          <p:cNvSpPr/>
          <p:nvPr/>
        </p:nvSpPr>
        <p:spPr>
          <a:xfrm>
            <a:off x="868680" y="4087368"/>
            <a:ext cx="4663440" cy="342351"/>
          </a:xfrm>
          <a:prstGeom prst="rect">
            <a:avLst/>
          </a:prstGeom>
          <a:noFill/>
          <a:ln/>
        </p:spPr>
        <p:txBody>
          <a:bodyPr wrap="square" rtlCol="0" anchor="b"/>
          <a:lstStyle/>
          <a:p>
            <a:pPr indent="0" marL="0">
              <a:buNone/>
            </a:pPr>
            <a:r>
              <a:rPr lang="en-US" sz="1200" b="1" dirty="0">
                <a:solidFill>
                  <a:srgbClr val="222222"/>
                </a:solidFill>
                <a:latin typeface="Calibri" pitchFamily="34" charset="0"/>
                <a:ea typeface="Calibri" pitchFamily="34" charset="-122"/>
                <a:cs typeface="Calibri" pitchFamily="34" charset="-120"/>
              </a:rPr>
              <a:t>SrcTranslated/  (Aeneas-generated Lean 4 model)</a:t>
            </a:r>
            <a:endParaRPr lang="en-US" sz="1200" dirty="0"/>
          </a:p>
        </p:txBody>
      </p:sp>
      <p:sp>
        <p:nvSpPr>
          <p:cNvPr id="16" name="Text 14"/>
          <p:cNvSpPr/>
          <p:nvPr/>
        </p:nvSpPr>
        <p:spPr>
          <a:xfrm>
            <a:off x="868680" y="4383634"/>
            <a:ext cx="4663440" cy="329184"/>
          </a:xfrm>
          <a:prstGeom prst="rect">
            <a:avLst/>
          </a:prstGeom>
          <a:noFill/>
          <a:ln/>
        </p:spPr>
        <p:txBody>
          <a:bodyPr wrap="square" rtlCol="0" anchor="t"/>
          <a:lstStyle/>
          <a:p>
            <a:pPr indent="0" marL="0">
              <a:buNone/>
            </a:pPr>
            <a:r>
              <a:rPr lang="en-US" sz="900" dirty="0">
                <a:solidFill>
                  <a:srgbClr val="595959"/>
                </a:solidFill>
                <a:latin typeface="Calibri" pitchFamily="34" charset="0"/>
                <a:ea typeface="Calibri" pitchFamily="34" charset="-122"/>
                <a:cs typeface="Calibri" pitchFamily="34" charset="-120"/>
              </a:rPr>
              <a:t>Funs.lean · Types.lean — mechanically extracted from Rust via Charon → Aeneas</a:t>
            </a:r>
            <a:endParaRPr lang="en-US" sz="900" dirty="0"/>
          </a:p>
        </p:txBody>
      </p:sp>
      <p:sp>
        <p:nvSpPr>
          <p:cNvPr id="17" name="Shape 15"/>
          <p:cNvSpPr/>
          <p:nvPr/>
        </p:nvSpPr>
        <p:spPr>
          <a:xfrm>
            <a:off x="731520" y="4855464"/>
            <a:ext cx="4937760" cy="658368"/>
          </a:xfrm>
          <a:prstGeom prst="roundRect">
            <a:avLst>
              <a:gd name="adj" fmla="val 11111"/>
            </a:avLst>
          </a:prstGeom>
          <a:solidFill>
            <a:srgbClr val="1F3864"/>
          </a:solidFill>
          <a:ln w="9525">
            <a:solidFill>
              <a:srgbClr val="BFBFBF"/>
            </a:solidFill>
            <a:prstDash val="solid"/>
          </a:ln>
        </p:spPr>
      </p:sp>
      <p:sp>
        <p:nvSpPr>
          <p:cNvPr id="18" name="Text 16"/>
          <p:cNvSpPr/>
          <p:nvPr/>
        </p:nvSpPr>
        <p:spPr>
          <a:xfrm>
            <a:off x="868680" y="4855464"/>
            <a:ext cx="4663440" cy="342351"/>
          </a:xfrm>
          <a:prstGeom prst="rect">
            <a:avLst/>
          </a:prstGeom>
          <a:noFill/>
          <a:ln/>
        </p:spPr>
        <p:txBody>
          <a:bodyPr wrap="square" rtlCol="0" anchor="b"/>
          <a:lstStyle/>
          <a:p>
            <a:pPr indent="0" marL="0">
              <a:buNone/>
            </a:pPr>
            <a:r>
              <a:rPr lang="en-US" sz="1200" b="1" dirty="0">
                <a:solidFill>
                  <a:srgbClr val="FFFFFF"/>
                </a:solidFill>
                <a:latin typeface="Calibri" pitchFamily="34" charset="0"/>
                <a:ea typeface="Calibri" pitchFamily="34" charset="-122"/>
                <a:cs typeface="Calibri" pitchFamily="34" charset="-120"/>
              </a:rPr>
              <a:t>Spqr/Specs/ + Spqr/Math/  (hand-written proofs)</a:t>
            </a:r>
            <a:endParaRPr lang="en-US" sz="1200" dirty="0"/>
          </a:p>
        </p:txBody>
      </p:sp>
      <p:sp>
        <p:nvSpPr>
          <p:cNvPr id="19" name="Text 17"/>
          <p:cNvSpPr/>
          <p:nvPr/>
        </p:nvSpPr>
        <p:spPr>
          <a:xfrm>
            <a:off x="868680" y="5151730"/>
            <a:ext cx="4663440" cy="329184"/>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147 / 312 functions specified · 146 fully proved · 419 spec theorems + 110 math theorems</a:t>
            </a:r>
            <a:endParaRPr lang="en-US" sz="900" dirty="0"/>
          </a:p>
        </p:txBody>
      </p:sp>
      <p:sp>
        <p:nvSpPr>
          <p:cNvPr id="20" name="Shape 18"/>
          <p:cNvSpPr/>
          <p:nvPr/>
        </p:nvSpPr>
        <p:spPr>
          <a:xfrm>
            <a:off x="3200400" y="2441448"/>
            <a:ext cx="0" cy="109728"/>
          </a:xfrm>
          <a:prstGeom prst="line">
            <a:avLst/>
          </a:prstGeom>
          <a:noFill/>
          <a:ln w="19050">
            <a:solidFill>
              <a:srgbClr val="1F3864"/>
            </a:solidFill>
            <a:prstDash val="solid"/>
            <a:tailEnd type="triangle"/>
          </a:ln>
        </p:spPr>
      </p:sp>
      <p:sp>
        <p:nvSpPr>
          <p:cNvPr id="21" name="Shape 19"/>
          <p:cNvSpPr/>
          <p:nvPr/>
        </p:nvSpPr>
        <p:spPr>
          <a:xfrm>
            <a:off x="3200400" y="3209544"/>
            <a:ext cx="0" cy="109728"/>
          </a:xfrm>
          <a:prstGeom prst="line">
            <a:avLst/>
          </a:prstGeom>
          <a:noFill/>
          <a:ln w="19050">
            <a:solidFill>
              <a:srgbClr val="1F3864"/>
            </a:solidFill>
            <a:prstDash val="solid"/>
            <a:tailEnd type="triangle"/>
          </a:ln>
        </p:spPr>
      </p:sp>
      <p:sp>
        <p:nvSpPr>
          <p:cNvPr id="22" name="Shape 20"/>
          <p:cNvSpPr/>
          <p:nvPr/>
        </p:nvSpPr>
        <p:spPr>
          <a:xfrm>
            <a:off x="3200400" y="3977640"/>
            <a:ext cx="0" cy="109728"/>
          </a:xfrm>
          <a:prstGeom prst="line">
            <a:avLst/>
          </a:prstGeom>
          <a:noFill/>
          <a:ln w="19050">
            <a:solidFill>
              <a:srgbClr val="1F3864"/>
            </a:solidFill>
            <a:prstDash val="solid"/>
            <a:tailEnd type="triangle"/>
          </a:ln>
        </p:spPr>
      </p:sp>
      <p:sp>
        <p:nvSpPr>
          <p:cNvPr id="23" name="Shape 21"/>
          <p:cNvSpPr/>
          <p:nvPr/>
        </p:nvSpPr>
        <p:spPr>
          <a:xfrm>
            <a:off x="3200400" y="4745736"/>
            <a:ext cx="0" cy="109728"/>
          </a:xfrm>
          <a:prstGeom prst="line">
            <a:avLst/>
          </a:prstGeom>
          <a:noFill/>
          <a:ln w="19050">
            <a:solidFill>
              <a:srgbClr val="1F3864"/>
            </a:solidFill>
            <a:prstDash val="solid"/>
            <a:tailEnd type="triangle"/>
          </a:ln>
        </p:spPr>
      </p:sp>
      <p:sp>
        <p:nvSpPr>
          <p:cNvPr id="24" name="Text 22"/>
          <p:cNvSpPr/>
          <p:nvPr/>
        </p:nvSpPr>
        <p:spPr>
          <a:xfrm>
            <a:off x="6309360" y="1371600"/>
            <a:ext cx="5029200" cy="320040"/>
          </a:xfrm>
          <a:prstGeom prst="rect">
            <a:avLst/>
          </a:prstGeom>
          <a:noFill/>
          <a:ln/>
        </p:spPr>
        <p:txBody>
          <a:bodyPr wrap="square" rtlCol="0" anchor="ctr"/>
          <a:lstStyle/>
          <a:p>
            <a:pPr indent="0" marL="0">
              <a:buNone/>
            </a:pPr>
            <a:r>
              <a:rPr lang="en-US" sz="1400" b="1" dirty="0">
                <a:solidFill>
                  <a:srgbClr val="2E75B6"/>
                </a:solidFill>
                <a:latin typeface="Calibri" pitchFamily="34" charset="0"/>
                <a:ea typeface="Calibri" pitchFamily="34" charset="-122"/>
                <a:cs typeface="Calibri" pitchFamily="34" charset="-120"/>
              </a:rPr>
              <a:t>What's next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09360" y="1691640"/>
          <a:ext cx="5394960" cy="914400"/>
        </p:xfrm>
        <a:graphic>
          <a:graphicData uri="http://schemas.openxmlformats.org/drawingml/2006/table">
            <a:tbl>
              <a:tblPr/>
              <a:tblGrid>
                <a:gridCol w="2377440"/>
                <a:gridCol w="30175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Milestone</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E75B6"/>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Specify protobuf encode/decode</a:t>
                      </a:r>
                      <a:endParaRPr lang="en-US" sz="900" dirty="0">
                        <a:latin typeface="Calibri" charset="0"/>
                        <a:ea typeface="Calibri" charset="0"/>
                        <a:cs typeface="Calibri" charset="0"/>
                      </a:endParaRPr>
                    </a:p>
                    <a:p>
                      <a:pPr indent="0" marL="0">
                        <a:buNone/>
                      </a:pPr>
                      <a:r>
                        <a:rPr lang="en-US" sz="900" dirty="0">
                          <a:solidFill>
                            <a:srgbClr val="222222"/>
                          </a:solidFill>
                          <a:latin typeface="Calibri" pitchFamily="34" charset="0"/>
                          <a:ea typeface="Calibri" pitchFamily="34" charset="-122"/>
                          <a:cs typeface="Calibri" pitchFamily="34" charset="-120"/>
                        </a:rPr>
                        <a:t>(unblocks prost sorry — issue #102)</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Unblocks decode_state, initial_state, send, recv in one shot</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Specify initial_state</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Proves the session is created with correct version, direction, chain params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Specify send + recv</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End-to-end: send/recv round-trip produces matching keys for all inputs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Remaining chain functions</a:t>
                      </a:r>
                      <a:endParaRPr lang="en-US" sz="900" dirty="0">
                        <a:latin typeface="Calibri" charset="0"/>
                        <a:ea typeface="Calibri" charset="0"/>
                        <a:cs typeface="Calibri" charset="0"/>
                      </a:endParaRPr>
                    </a:p>
                    <a:p>
                      <a:pPr indent="0" marL="0">
                        <a:buNone/>
                      </a:pPr>
                      <a:r>
                        <a:rPr lang="en-US" sz="900" dirty="0">
                          <a:solidFill>
                            <a:srgbClr val="222222"/>
                          </a:solidFill>
                          <a:latin typeface="Calibri" pitchFamily="34" charset="0"/>
                          <a:ea typeface="Calibri" pitchFamily="34" charset="-122"/>
                          <a:cs typeface="Calibri" pitchFamily="34" charset="-120"/>
                        </a:rPr>
                        <a:t>(11 / 25 → 25 / 25)</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Complete the key-management layer; needed transitively by send/recv proofs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0">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v1/chunked/* specs</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900" dirty="0">
                          <a:solidFill>
                            <a:srgbClr val="222222"/>
                          </a:solidFill>
                          <a:latin typeface="Calibri" pitchFamily="34" charset="0"/>
                          <a:ea typeface="Calibri" pitchFamily="34" charset="-122"/>
                          <a:cs typeface="Calibri" pitchFamily="34" charset="-120"/>
                        </a:rPr>
                        <a:t>Largest remaining module — erasure-code state machine</a:t>
                      </a:r>
                      <a:endParaRPr lang="en-US" sz="9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sp>
        <p:nvSpPr>
          <p:cNvPr id="26" name="Text 23"/>
          <p:cNvSpPr/>
          <p:nvPr/>
        </p:nvSpPr>
        <p:spPr>
          <a:xfrm>
            <a:off x="6309360" y="4754880"/>
            <a:ext cx="5029200" cy="320040"/>
          </a:xfrm>
          <a:prstGeom prst="rect">
            <a:avLst/>
          </a:prstGeom>
          <a:noFill/>
          <a:ln/>
        </p:spPr>
        <p:txBody>
          <a:bodyPr wrap="square" rtlCol="0" anchor="ctr"/>
          <a:lstStyle/>
          <a:p>
            <a:pPr indent="0" marL="0">
              <a:buNone/>
            </a:pPr>
            <a:r>
              <a:rPr lang="en-US" sz="1400" b="1" dirty="0">
                <a:solidFill>
                  <a:srgbClr val="548235"/>
                </a:solidFill>
                <a:latin typeface="Calibri" pitchFamily="34" charset="0"/>
                <a:ea typeface="Calibri" pitchFamily="34" charset="-122"/>
                <a:cs typeface="Calibri" pitchFamily="34" charset="-120"/>
              </a:rPr>
              <a:t>Key takeaway</a:t>
            </a:r>
            <a:endParaRPr lang="en-US" sz="1400" dirty="0"/>
          </a:p>
        </p:txBody>
      </p:sp>
      <p:sp>
        <p:nvSpPr>
          <p:cNvPr id="27" name="Text 24"/>
          <p:cNvSpPr/>
          <p:nvPr/>
        </p:nvSpPr>
        <p:spPr>
          <a:xfrm>
            <a:off x="6309360" y="5074920"/>
            <a:ext cx="5394960" cy="146304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bridge is the last layer, not the first — by design. Bottom-up verification means each callee's theorem is ready when its caller needs it.</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Once the protobuf blocker is resolved, the three big entry points can be specified by composing the 146 theorems already proved below them.</a:t>
            </a:r>
            <a:endParaRPr lang="en-US" sz="1100" dirty="0"/>
          </a:p>
          <a:p>
            <a:pPr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Goal: "for all valid inputs, send then recv yields matching keys and a decodable successor state" — a statement no amount of testing can make.</a:t>
            </a:r>
            <a:endParaRPr lang="en-US" sz="1100" dirty="0"/>
          </a:p>
        </p:txBody>
      </p:sp>
      <p:sp>
        <p:nvSpPr>
          <p:cNvPr id="25" name="Slide Number Placeholder 0"/>
          <p:cNvSpPr>
            <a:spLocks noGrp="1"/>
          </p:cNvSpPr>
          <p:nvPr>
            <p:ph type="sldNum" sz="quarter" idx="4294967295"/>
          </p:nvPr>
        </p:nvSpPr>
        <p:spPr>
          <a:xfrm>
            <a:off x="11247120" y="644652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5959"/>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Formal Verification of SPQR in Lean 4</dc:title>
  <dc:subject>PptxGenJS Presentation</dc:subject>
  <dc:creator>The Beneficial AI Foundation</dc:creator>
  <cp:lastModifiedBy>The Beneficial AI Foundation</cp:lastModifiedBy>
  <cp:revision>1</cp:revision>
  <dcterms:created xsi:type="dcterms:W3CDTF">2026-09-05T20:38:59Z</dcterms:created>
  <dcterms:modified xsi:type="dcterms:W3CDTF">2026-09-05T20:38:59Z</dcterms:modified>
</cp:coreProperties>
</file>